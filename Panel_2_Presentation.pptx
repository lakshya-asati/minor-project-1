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6"/>
  </p:notesMasterIdLst>
  <p:sldIdLst>
    <p:sldId id="270" r:id="rId2"/>
    <p:sldId id="271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83" r:id="rId15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80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72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kshya Asati" userId="d1b6aaae16d5d66c" providerId="LiveId" clId="{9FA11CD9-C934-4AEB-8BC0-369F230C892D}"/>
    <pc:docChg chg="undo redo custSel modSld">
      <pc:chgData name="Lakshya Asati" userId="d1b6aaae16d5d66c" providerId="LiveId" clId="{9FA11CD9-C934-4AEB-8BC0-369F230C892D}" dt="2026-10-24T22:49:08.545" v="467" actId="1076"/>
      <pc:docMkLst>
        <pc:docMk/>
      </pc:docMkLst>
      <pc:sldChg chg="delSp modSp mod">
        <pc:chgData name="Lakshya Asati" userId="d1b6aaae16d5d66c" providerId="LiveId" clId="{9FA11CD9-C934-4AEB-8BC0-369F230C892D}" dt="2026-10-24T22:49:08.545" v="467" actId="1076"/>
        <pc:sldMkLst>
          <pc:docMk/>
          <pc:sldMk cId="0" sldId="270"/>
        </pc:sldMkLst>
        <pc:spChg chg="mod">
          <ac:chgData name="Lakshya Asati" userId="d1b6aaae16d5d66c" providerId="LiveId" clId="{9FA11CD9-C934-4AEB-8BC0-369F230C892D}" dt="2026-10-24T22:48:56.694" v="465" actId="122"/>
          <ac:spMkLst>
            <pc:docMk/>
            <pc:sldMk cId="0" sldId="270"/>
            <ac:spMk id="2" creationId="{00000000-0000-0000-0000-000000000000}"/>
          </ac:spMkLst>
        </pc:spChg>
        <pc:spChg chg="del">
          <ac:chgData name="Lakshya Asati" userId="d1b6aaae16d5d66c" providerId="LiveId" clId="{9FA11CD9-C934-4AEB-8BC0-369F230C892D}" dt="2026-10-24T22:48:51.788" v="464" actId="478"/>
          <ac:spMkLst>
            <pc:docMk/>
            <pc:sldMk cId="0" sldId="270"/>
            <ac:spMk id="3" creationId="{00000000-0000-0000-0000-000000000000}"/>
          </ac:spMkLst>
        </pc:spChg>
        <pc:spChg chg="mod">
          <ac:chgData name="Lakshya Asati" userId="d1b6aaae16d5d66c" providerId="LiveId" clId="{9FA11CD9-C934-4AEB-8BC0-369F230C892D}" dt="2026-10-24T22:48:56.694" v="465" actId="122"/>
          <ac:spMkLst>
            <pc:docMk/>
            <pc:sldMk cId="0" sldId="270"/>
            <ac:spMk id="4" creationId="{00000000-0000-0000-0000-000000000000}"/>
          </ac:spMkLst>
        </pc:spChg>
        <pc:spChg chg="mod">
          <ac:chgData name="Lakshya Asati" userId="d1b6aaae16d5d66c" providerId="LiveId" clId="{9FA11CD9-C934-4AEB-8BC0-369F230C892D}" dt="2026-10-24T22:48:56.694" v="465" actId="122"/>
          <ac:spMkLst>
            <pc:docMk/>
            <pc:sldMk cId="0" sldId="270"/>
            <ac:spMk id="5" creationId="{00000000-0000-0000-0000-000000000000}"/>
          </ac:spMkLst>
        </pc:spChg>
        <pc:spChg chg="mod">
          <ac:chgData name="Lakshya Asati" userId="d1b6aaae16d5d66c" providerId="LiveId" clId="{9FA11CD9-C934-4AEB-8BC0-369F230C892D}" dt="2026-10-24T22:48:56.694" v="465" actId="122"/>
          <ac:spMkLst>
            <pc:docMk/>
            <pc:sldMk cId="0" sldId="270"/>
            <ac:spMk id="7" creationId="{00000000-0000-0000-0000-000000000000}"/>
          </ac:spMkLst>
        </pc:spChg>
        <pc:spChg chg="mod">
          <ac:chgData name="Lakshya Asati" userId="d1b6aaae16d5d66c" providerId="LiveId" clId="{9FA11CD9-C934-4AEB-8BC0-369F230C892D}" dt="2026-10-24T22:48:56.694" v="465" actId="122"/>
          <ac:spMkLst>
            <pc:docMk/>
            <pc:sldMk cId="0" sldId="270"/>
            <ac:spMk id="8" creationId="{00000000-0000-0000-0000-000000000000}"/>
          </ac:spMkLst>
        </pc:spChg>
        <pc:spChg chg="mod">
          <ac:chgData name="Lakshya Asati" userId="d1b6aaae16d5d66c" providerId="LiveId" clId="{9FA11CD9-C934-4AEB-8BC0-369F230C892D}" dt="2026-10-24T22:49:08.545" v="467" actId="1076"/>
          <ac:spMkLst>
            <pc:docMk/>
            <pc:sldMk cId="0" sldId="270"/>
            <ac:spMk id="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5568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79179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05229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34505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231021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3761341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71535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51313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274077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506080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30596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210468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67444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834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78947" y="256032"/>
            <a:ext cx="611218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700" b="1">
                <a:latin typeface="Cambria"/>
              </a:defRPr>
            </a:pPr>
            <a:r>
              <a:t>MULTI-DISEASE PREDICTION SYSTEM</a:t>
            </a:r>
          </a:p>
          <a:p>
            <a:pPr algn="ctr">
              <a:defRPr sz="2700" b="1">
                <a:latin typeface="Cambria"/>
              </a:defRPr>
            </a:pPr>
            <a:r>
              <a:t>USING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86200" y="1316736"/>
            <a:ext cx="4572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b="1">
                <a:solidFill>
                  <a:srgbClr val="1E3A5F"/>
                </a:solidFill>
                <a:latin typeface="Calibri"/>
              </a:rPr>
              <a:t>By:</a:t>
            </a:r>
          </a:p>
          <a:p>
            <a:pPr algn="ctr">
              <a:defRPr sz="1400">
                <a:solidFill>
                  <a:srgbClr val="2B2B2B"/>
                </a:solidFill>
                <a:latin typeface="Calibri"/>
              </a:defRPr>
            </a:pPr>
            <a:r>
              <a:t>Vijay Kumar Rajak   (241B286)</a:t>
            </a:r>
          </a:p>
          <a:p>
            <a:pPr algn="ctr">
              <a:defRPr sz="1400">
                <a:solidFill>
                  <a:srgbClr val="2B2B2B"/>
                </a:solidFill>
                <a:latin typeface="Calibri"/>
              </a:defRPr>
            </a:pPr>
            <a:r>
              <a:t>Piyush Vishwakarma   (241B177)</a:t>
            </a:r>
          </a:p>
          <a:p>
            <a:pPr algn="ctr">
              <a:defRPr sz="1400">
                <a:solidFill>
                  <a:srgbClr val="2B2B2B"/>
                </a:solidFill>
                <a:latin typeface="Calibri"/>
              </a:defRPr>
            </a:pPr>
            <a:r>
              <a:t>Lakshya Asati   (241B134)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697480"/>
            <a:ext cx="30175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E3A5F"/>
                </a:solidFill>
                <a:latin typeface="Calibri"/>
              </a:rPr>
              <a:t>Under the supervision of:  </a:t>
            </a:r>
          </a:p>
          <a:p>
            <a:pPr algn="ctr">
              <a:defRPr sz="1500">
                <a:latin typeface="Calibri"/>
              </a:defRPr>
            </a:pPr>
            <a:r>
              <a:t>Dr. Rahul Pachauri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3749039"/>
            <a:ext cx="1828800" cy="216712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108192"/>
            <a:ext cx="12188952" cy="749808"/>
          </a:xfrm>
          <a:prstGeom prst="rect">
            <a:avLst/>
          </a:prstGeom>
          <a:solidFill>
            <a:srgbClr val="94B6D2"/>
          </a:solidFill>
          <a:ln>
            <a:solidFill>
              <a:srgbClr val="94B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0" y="6108192"/>
            <a:ext cx="2377440" cy="749808"/>
          </a:xfrm>
          <a:prstGeom prst="rect">
            <a:avLst/>
          </a:prstGeom>
          <a:solidFill>
            <a:srgbClr val="DD8047"/>
          </a:solidFill>
          <a:ln>
            <a:solidFill>
              <a:srgbClr val="DD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377440" y="6308247"/>
            <a:ext cx="639014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233B"/>
                </a:solidFill>
                <a:latin typeface="Calibri"/>
              </a:defRPr>
            </a:pPr>
            <a:r>
              <a:rPr dirty="0"/>
              <a:t>Jaypee University of Engineering &amp; Technology, Guna (MP)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"/>
            <a:ext cx="868680" cy="658368"/>
          </a:xfrm>
          <a:prstGeom prst="rect">
            <a:avLst/>
          </a:prstGeom>
          <a:solidFill>
            <a:srgbClr val="DD8047"/>
          </a:solidFill>
          <a:ln>
            <a:solidFill>
              <a:srgbClr val="DD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320040"/>
            <a:ext cx="868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20040"/>
            <a:ext cx="10442448" cy="658368"/>
          </a:xfrm>
          <a:prstGeom prst="rect">
            <a:avLst/>
          </a:prstGeom>
          <a:solidFill>
            <a:srgbClr val="94B6D2"/>
          </a:solidFill>
          <a:ln>
            <a:solidFill>
              <a:srgbClr val="94B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347472"/>
            <a:ext cx="100584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mbria"/>
              </a:defRPr>
            </a:pPr>
            <a:r>
              <a:t>Problem Statement &amp; Objectives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37160"/>
            <a:ext cx="640080" cy="75895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7233B"/>
          </a:solidFill>
          <a:ln>
            <a:solidFill>
              <a:srgbClr val="17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1612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  <a:latin typeface="Calibri"/>
              </a:defRPr>
            </a:pPr>
            <a:r>
              <a:t>Multi-Disease Prediction System using ML  |  Minor Project Part-I  |  RP-2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70432"/>
            <a:ext cx="11064240" cy="384048"/>
          </a:xfrm>
          <a:prstGeom prst="round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THE 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64208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B2B2B"/>
                </a:solidFill>
                <a:latin typeface="Calibri"/>
              </a:defRPr>
            </a:pPr>
            <a:r>
              <a:t>• Chronic diseases like Diabetes, Heart Disease &amp; Parkinson's often go undetected until it's too late.</a:t>
            </a:r>
          </a:p>
          <a:p>
            <a:pPr>
              <a:spcAft>
                <a:spcPts val="1000"/>
              </a:spcAft>
              <a:defRPr sz="1500">
                <a:solidFill>
                  <a:srgbClr val="2B2B2B"/>
                </a:solidFill>
                <a:latin typeface="Calibri"/>
              </a:defRPr>
            </a:pPr>
            <a:r>
              <a:t>• Manual diagnosis is slow, expensive, and requires specialist availability — often unavailable in rural areas.</a:t>
            </a:r>
          </a:p>
          <a:p>
            <a:pPr>
              <a:spcAft>
                <a:spcPts val="1000"/>
              </a:spcAft>
              <a:defRPr sz="1500">
                <a:solidFill>
                  <a:srgbClr val="2B2B2B"/>
                </a:solidFill>
                <a:latin typeface="Calibri"/>
              </a:defRPr>
            </a:pPr>
            <a:r>
              <a:t>• Most existing tools check only one disease at a time. There is no single unified screening system.</a:t>
            </a:r>
          </a:p>
          <a:p>
            <a:pPr>
              <a:spcAft>
                <a:spcPts val="1000"/>
              </a:spcAft>
              <a:defRPr sz="1500">
                <a:solidFill>
                  <a:srgbClr val="2B2B2B"/>
                </a:solidFill>
                <a:latin typeface="Calibri"/>
              </a:defRPr>
            </a:pPr>
            <a:r>
              <a:t>• Hospitals already collect the required patient data — ML can use it to flag risk immediately.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77639"/>
            <a:ext cx="11064240" cy="384048"/>
          </a:xfrm>
          <a:prstGeom prst="roundRect">
            <a:avLst/>
          </a:prstGeom>
          <a:solidFill>
            <a:srgbClr val="DD8047"/>
          </a:solidFill>
          <a:ln>
            <a:solidFill>
              <a:srgbClr val="DD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OUR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8056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B2B2B"/>
                </a:solidFill>
                <a:latin typeface="Calibri"/>
              </a:defRPr>
            </a:pPr>
            <a:r>
              <a:t>• Train one best-performing ML model per disease (Heart, Diabetes, Parkinson's).</a:t>
            </a:r>
          </a:p>
          <a:p>
            <a:pPr>
              <a:spcAft>
                <a:spcPts val="1000"/>
              </a:spcAft>
              <a:defRPr sz="1500">
                <a:solidFill>
                  <a:srgbClr val="2B2B2B"/>
                </a:solidFill>
                <a:latin typeface="Calibri"/>
              </a:defRPr>
            </a:pPr>
            <a:r>
              <a:t>• Serve all 3 models through a single Flask web backend with REST API endpoints.</a:t>
            </a:r>
          </a:p>
          <a:p>
            <a:pPr>
              <a:spcAft>
                <a:spcPts val="1000"/>
              </a:spcAft>
              <a:defRPr sz="1500">
                <a:solidFill>
                  <a:srgbClr val="2B2B2B"/>
                </a:solidFill>
                <a:latin typeface="Calibri"/>
              </a:defRPr>
            </a:pPr>
            <a:r>
              <a:t>• Build an interactive web interface where anyone can enter vitals and get a risk prediction instantly.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"/>
            <a:ext cx="868680" cy="658368"/>
          </a:xfrm>
          <a:prstGeom prst="rect">
            <a:avLst/>
          </a:prstGeom>
          <a:solidFill>
            <a:srgbClr val="DD8047"/>
          </a:solidFill>
          <a:ln>
            <a:solidFill>
              <a:srgbClr val="DD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320040"/>
            <a:ext cx="868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20040"/>
            <a:ext cx="10442448" cy="658368"/>
          </a:xfrm>
          <a:prstGeom prst="rect">
            <a:avLst/>
          </a:prstGeom>
          <a:solidFill>
            <a:srgbClr val="94B6D2"/>
          </a:solidFill>
          <a:ln>
            <a:solidFill>
              <a:srgbClr val="94B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347472"/>
            <a:ext cx="100584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mbria"/>
              </a:defRPr>
            </a:pPr>
            <a:r>
              <a:t>System Architecture &amp; Tech Stack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37160"/>
            <a:ext cx="640080" cy="75895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7233B"/>
          </a:solidFill>
          <a:ln>
            <a:solidFill>
              <a:srgbClr val="17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1612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  <a:latin typeface="Calibri"/>
              </a:defRPr>
            </a:pPr>
            <a:r>
              <a:t>Multi-Disease Prediction System using ML  |  Minor Project Part-I  |  RP-2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8116" y="1261872"/>
            <a:ext cx="1920240" cy="1417320"/>
          </a:xfrm>
          <a:prstGeom prst="round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User fills</a:t>
            </a:r>
            <a:br/>
            <a:r>
              <a:t>the 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57500" y="1741932"/>
            <a:ext cx="18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5A6472"/>
                </a:solidFill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31236" y="1261872"/>
            <a:ext cx="1920240" cy="1417320"/>
          </a:xfrm>
          <a:prstGeom prst="roundRect">
            <a:avLst/>
          </a:prstGeom>
          <a:solidFill>
            <a:srgbClr val="DD8047"/>
          </a:solidFill>
          <a:ln>
            <a:solidFill>
              <a:srgbClr val="DD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Web page</a:t>
            </a:r>
            <a:br/>
            <a:r>
              <a:t>sends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60620" y="1741932"/>
            <a:ext cx="18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5A6472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34356" y="1261872"/>
            <a:ext cx="1920240" cy="1417320"/>
          </a:xfrm>
          <a:prstGeom prst="round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Flask API</a:t>
            </a:r>
            <a:br/>
            <a:r>
              <a:t>receives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63740" y="1741932"/>
            <a:ext cx="18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5A6472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37476" y="1261872"/>
            <a:ext cx="1920240" cy="1417320"/>
          </a:xfrm>
          <a:prstGeom prst="roundRect">
            <a:avLst/>
          </a:prstGeom>
          <a:solidFill>
            <a:srgbClr val="DD8047"/>
          </a:solidFill>
          <a:ln>
            <a:solidFill>
              <a:srgbClr val="DD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ML model</a:t>
            </a:r>
            <a:br/>
            <a:r>
              <a:t>predicts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66860" y="1741932"/>
            <a:ext cx="182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5A6472"/>
                </a:solidFill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40596" y="1261872"/>
            <a:ext cx="1920240" cy="1417320"/>
          </a:xfrm>
          <a:prstGeom prst="roundRect">
            <a:avLst/>
          </a:prstGeom>
          <a:solidFill>
            <a:srgbClr val="1E7A3C"/>
          </a:solidFill>
          <a:ln>
            <a:solidFill>
              <a:srgbClr val="1E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Result shown</a:t>
            </a:r>
            <a:br/>
            <a:r>
              <a:t>on screen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971800"/>
            <a:ext cx="3657600" cy="384048"/>
          </a:xfrm>
          <a:prstGeom prst="round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438144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2B2B2B"/>
                </a:solidFill>
                <a:latin typeface="Calibri"/>
              </a:defRPr>
            </a:pPr>
            <a:r>
              <a:t>• HTML + CSS + JavaScript</a:t>
            </a:r>
          </a:p>
          <a:p>
            <a:pPr>
              <a:spcAft>
                <a:spcPts val="1000"/>
              </a:spcAft>
              <a:defRPr sz="1350">
                <a:solidFill>
                  <a:srgbClr val="2B2B2B"/>
                </a:solidFill>
                <a:latin typeface="Calibri"/>
              </a:defRPr>
            </a:pPr>
            <a:r>
              <a:t>• Runs directly in the browser</a:t>
            </a:r>
          </a:p>
          <a:p>
            <a:pPr>
              <a:spcAft>
                <a:spcPts val="1000"/>
              </a:spcAft>
              <a:defRPr sz="1350">
                <a:solidFill>
                  <a:srgbClr val="2B2B2B"/>
                </a:solidFill>
                <a:latin typeface="Calibri"/>
              </a:defRPr>
            </a:pPr>
            <a:r>
              <a:t>• Works offline too (simulation mode)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2971800"/>
            <a:ext cx="3657600" cy="384048"/>
          </a:xfrm>
          <a:prstGeom prst="roundRect">
            <a:avLst/>
          </a:prstGeom>
          <a:solidFill>
            <a:srgbClr val="DD8047"/>
          </a:solidFill>
          <a:ln>
            <a:solidFill>
              <a:srgbClr val="DD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438144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2B2B2B"/>
                </a:solidFill>
                <a:latin typeface="Calibri"/>
              </a:defRPr>
            </a:pPr>
            <a:r>
              <a:t>• Python 3.13  +  Flask</a:t>
            </a:r>
          </a:p>
          <a:p>
            <a:pPr>
              <a:spcAft>
                <a:spcPts val="1000"/>
              </a:spcAft>
              <a:defRPr sz="1350">
                <a:solidFill>
                  <a:srgbClr val="2B2B2B"/>
                </a:solidFill>
                <a:latin typeface="Calibri"/>
              </a:defRPr>
            </a:pPr>
            <a:r>
              <a:t>• CORS enabled for web access</a:t>
            </a:r>
          </a:p>
          <a:p>
            <a:pPr>
              <a:spcAft>
                <a:spcPts val="1000"/>
              </a:spcAft>
              <a:defRPr sz="1350">
                <a:solidFill>
                  <a:srgbClr val="2B2B2B"/>
                </a:solidFill>
                <a:latin typeface="Calibri"/>
              </a:defRPr>
            </a:pPr>
            <a:r>
              <a:t>• Routes: /predict/heart,  /predict/diabetes,  /predict/parkinsons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2971800"/>
            <a:ext cx="3657600" cy="384048"/>
          </a:xfrm>
          <a:prstGeom prst="round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ML MODELS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3438144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50">
                <a:solidFill>
                  <a:srgbClr val="2B2B2B"/>
                </a:solidFill>
                <a:latin typeface="Calibri"/>
              </a:defRPr>
            </a:pPr>
            <a:r>
              <a:t>• Scikit-Learn  1.6</a:t>
            </a:r>
          </a:p>
          <a:p>
            <a:pPr>
              <a:spcAft>
                <a:spcPts val="1000"/>
              </a:spcAft>
              <a:defRPr sz="1350">
                <a:solidFill>
                  <a:srgbClr val="2B2B2B"/>
                </a:solidFill>
                <a:latin typeface="Calibri"/>
              </a:defRPr>
            </a:pPr>
            <a:r>
              <a:t>• 3 trained models (.pkl files)</a:t>
            </a:r>
          </a:p>
          <a:p>
            <a:pPr>
              <a:spcAft>
                <a:spcPts val="1000"/>
              </a:spcAft>
              <a:defRPr sz="1350">
                <a:solidFill>
                  <a:srgbClr val="2B2B2B"/>
                </a:solidFill>
                <a:latin typeface="Calibri"/>
              </a:defRPr>
            </a:pPr>
            <a:r>
              <a:t>• Real-time prediction in milliseconds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"/>
            <a:ext cx="868680" cy="658368"/>
          </a:xfrm>
          <a:prstGeom prst="rect">
            <a:avLst/>
          </a:prstGeom>
          <a:solidFill>
            <a:srgbClr val="DD8047"/>
          </a:solidFill>
          <a:ln>
            <a:solidFill>
              <a:srgbClr val="DD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320040"/>
            <a:ext cx="868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20040"/>
            <a:ext cx="10442448" cy="658368"/>
          </a:xfrm>
          <a:prstGeom prst="rect">
            <a:avLst/>
          </a:prstGeom>
          <a:solidFill>
            <a:srgbClr val="94B6D2"/>
          </a:solidFill>
          <a:ln>
            <a:solidFill>
              <a:srgbClr val="94B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347472"/>
            <a:ext cx="100584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mbria"/>
              </a:defRPr>
            </a:pPr>
            <a:r>
              <a:t>Data Preprocessing &amp; Feature Engineering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37160"/>
            <a:ext cx="640080" cy="75895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7233B"/>
          </a:solidFill>
          <a:ln>
            <a:solidFill>
              <a:srgbClr val="17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1612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  <a:latin typeface="Calibri"/>
              </a:defRPr>
            </a:pPr>
            <a:r>
              <a:t>Multi-Disease Prediction System using ML  |  Minor Project Part-I  |  RP-2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1298448"/>
            <a:ext cx="347472" cy="347472"/>
          </a:xfrm>
          <a:prstGeom prst="ellipse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1188720"/>
            <a:ext cx="106527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5F"/>
                </a:solidFill>
                <a:latin typeface="Calibri"/>
              </a:defRPr>
            </a:pPr>
            <a:r>
              <a:t>Step 1 — Loaded all 3 datasets</a:t>
            </a:r>
          </a:p>
          <a:p>
            <a:pPr>
              <a:defRPr sz="1300">
                <a:solidFill>
                  <a:srgbClr val="2B2B2B"/>
                </a:solidFill>
                <a:latin typeface="Calibri"/>
              </a:defRPr>
            </a:pPr>
            <a:r>
              <a:t>Heart Disease (1,025 records)  •  Diabetes (768 records)  •  Parkinson's (195 records)</a:t>
            </a:r>
          </a:p>
        </p:txBody>
      </p:sp>
      <p:sp>
        <p:nvSpPr>
          <p:cNvPr id="11" name="Oval 10"/>
          <p:cNvSpPr/>
          <p:nvPr/>
        </p:nvSpPr>
        <p:spPr>
          <a:xfrm>
            <a:off x="502920" y="2304288"/>
            <a:ext cx="347472" cy="347472"/>
          </a:xfrm>
          <a:prstGeom prst="ellipse">
            <a:avLst/>
          </a:prstGeom>
          <a:solidFill>
            <a:srgbClr val="DD8047"/>
          </a:solidFill>
          <a:ln>
            <a:solidFill>
              <a:srgbClr val="DD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2194560"/>
            <a:ext cx="106527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D8047"/>
                </a:solidFill>
                <a:latin typeface="Calibri"/>
              </a:defRPr>
            </a:pPr>
            <a:r>
              <a:t>Step 2 — Fixed bad zero values (Diabetes only)</a:t>
            </a:r>
          </a:p>
          <a:p>
            <a:pPr>
              <a:defRPr sz="1300">
                <a:solidFill>
                  <a:srgbClr val="2B2B2B"/>
                </a:solidFill>
                <a:latin typeface="Calibri"/>
              </a:defRPr>
            </a:pPr>
            <a:r>
              <a:t>Fields like Glucose and Insulin had impossible zeros — replaced with the correct median value.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3310128"/>
            <a:ext cx="347472" cy="347472"/>
          </a:xfrm>
          <a:prstGeom prst="ellipse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3200400"/>
            <a:ext cx="106527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5F"/>
                </a:solidFill>
                <a:latin typeface="Calibri"/>
              </a:defRPr>
            </a:pPr>
            <a:r>
              <a:t>Step 3 — Removed leakage column (Parkinson's only)</a:t>
            </a:r>
          </a:p>
          <a:p>
            <a:pPr>
              <a:defRPr sz="1300">
                <a:solidFill>
                  <a:srgbClr val="2B2B2B"/>
                </a:solidFill>
                <a:latin typeface="Calibri"/>
              </a:defRPr>
            </a:pPr>
            <a:r>
              <a:t>The 'name' column (patient ID) was dropped so the model learns vocal patterns, not patient names.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4315968"/>
            <a:ext cx="347472" cy="347472"/>
          </a:xfrm>
          <a:prstGeom prst="ellipse">
            <a:avLst/>
          </a:prstGeom>
          <a:solidFill>
            <a:srgbClr val="DD8047"/>
          </a:solidFill>
          <a:ln>
            <a:solidFill>
              <a:srgbClr val="DD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4206240"/>
            <a:ext cx="106527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D8047"/>
                </a:solidFill>
                <a:latin typeface="Calibri"/>
              </a:defRPr>
            </a:pPr>
            <a:r>
              <a:t>Step 4 — Feature Scaling</a:t>
            </a:r>
          </a:p>
          <a:p>
            <a:pPr>
              <a:defRPr sz="1300">
                <a:solidFill>
                  <a:srgbClr val="2B2B2B"/>
                </a:solidFill>
                <a:latin typeface="Calibri"/>
              </a:defRPr>
            </a:pPr>
            <a:r>
              <a:t>Heart Disease: StandardScaler applied.   Diabetes &amp; Parkinson's: No scaling needed.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5321808"/>
            <a:ext cx="347472" cy="347472"/>
          </a:xfrm>
          <a:prstGeom prst="ellipse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5212080"/>
            <a:ext cx="10652760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5F"/>
                </a:solidFill>
                <a:latin typeface="Calibri"/>
              </a:defRPr>
            </a:pPr>
            <a:r>
              <a:t>Step 5 — Train / Test Split</a:t>
            </a:r>
          </a:p>
          <a:p>
            <a:pPr>
              <a:defRPr sz="1300">
                <a:solidFill>
                  <a:srgbClr val="2B2B2B"/>
                </a:solidFill>
                <a:latin typeface="Calibri"/>
              </a:defRPr>
            </a:pPr>
            <a:r>
              <a:t>80% training  +  20% testing for all 3 datasets  (stratified, so class balance is preserved).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"/>
            <a:ext cx="868680" cy="658368"/>
          </a:xfrm>
          <a:prstGeom prst="rect">
            <a:avLst/>
          </a:prstGeom>
          <a:solidFill>
            <a:srgbClr val="DD8047"/>
          </a:solidFill>
          <a:ln>
            <a:solidFill>
              <a:srgbClr val="DD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320040"/>
            <a:ext cx="868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20040"/>
            <a:ext cx="10442448" cy="658368"/>
          </a:xfrm>
          <a:prstGeom prst="rect">
            <a:avLst/>
          </a:prstGeom>
          <a:solidFill>
            <a:srgbClr val="94B6D2"/>
          </a:solidFill>
          <a:ln>
            <a:solidFill>
              <a:srgbClr val="94B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347472"/>
            <a:ext cx="100584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mbria"/>
              </a:defRPr>
            </a:pPr>
            <a:r>
              <a:t>Disease Model 1 — Coronary Heart Disease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37160"/>
            <a:ext cx="640080" cy="75895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7233B"/>
          </a:solidFill>
          <a:ln>
            <a:solidFill>
              <a:srgbClr val="17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1612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  <a:latin typeface="Calibri"/>
              </a:defRPr>
            </a:pPr>
            <a:r>
              <a:t>Multi-Disease Prediction System using ML  |  Minor Project Part-I  |  RP-2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70432"/>
            <a:ext cx="5394960" cy="384048"/>
          </a:xfrm>
          <a:prstGeom prst="round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DATASET &amp;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64208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B2B2B"/>
                </a:solidFill>
                <a:latin typeface="Calibri"/>
              </a:defRPr>
            </a:pPr>
            <a:r>
              <a:t>• Disease:   Coronary Heart Disease</a:t>
            </a:r>
          </a:p>
          <a:p>
            <a:pPr>
              <a:spcAft>
                <a:spcPts val="1000"/>
              </a:spcAft>
              <a:defRPr sz="1400">
                <a:solidFill>
                  <a:srgbClr val="2B2B2B"/>
                </a:solidFill>
                <a:latin typeface="Calibri"/>
              </a:defRPr>
            </a:pPr>
            <a:r>
              <a:t>• Source:    Cleveland Clinic (UCI Repository)</a:t>
            </a:r>
          </a:p>
          <a:p>
            <a:pPr>
              <a:spcAft>
                <a:spcPts val="1000"/>
              </a:spcAft>
              <a:defRPr sz="1400">
                <a:solidFill>
                  <a:srgbClr val="2B2B2B"/>
                </a:solidFill>
                <a:latin typeface="Calibri"/>
              </a:defRPr>
            </a:pPr>
            <a:r>
              <a:t>• Records:   1,025  records</a:t>
            </a:r>
          </a:p>
          <a:p>
            <a:pPr>
              <a:spcAft>
                <a:spcPts val="1000"/>
              </a:spcAft>
              <a:defRPr sz="1400">
                <a:solidFill>
                  <a:srgbClr val="2B2B2B"/>
                </a:solidFill>
                <a:latin typeface="Calibri"/>
              </a:defRPr>
            </a:pPr>
            <a:r>
              <a:t>• Features:  13  input columns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77639"/>
            <a:ext cx="5394960" cy="384048"/>
          </a:xfrm>
          <a:prstGeom prst="roundRect">
            <a:avLst/>
          </a:prstGeom>
          <a:solidFill>
            <a:srgbClr val="DD8047"/>
          </a:solidFill>
          <a:ln>
            <a:solidFill>
              <a:srgbClr val="DD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KEY INPUT FEATURES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80560"/>
            <a:ext cx="5394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• Age, Sex, Chest Pain Type</a:t>
            </a:r>
          </a:p>
          <a:p>
            <a:pPr>
              <a:spcAft>
                <a:spcPts val="10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• Resting BP, Cholesterol</a:t>
            </a:r>
          </a:p>
          <a:p>
            <a:pPr>
              <a:spcAft>
                <a:spcPts val="10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• Max Heart Rate, ST Depression</a:t>
            </a:r>
          </a:p>
          <a:p>
            <a:pPr>
              <a:spcAft>
                <a:spcPts val="10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• Thal Status, No. of Vessels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170432"/>
            <a:ext cx="1399032" cy="914400"/>
          </a:xfrm>
          <a:prstGeom prst="round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BEDBFF"/>
                </a:solidFill>
                <a:latin typeface="Calibri"/>
              </a:defRPr>
            </a:pPr>
            <a:r>
              <a:t>Accuracy</a:t>
            </a:r>
          </a:p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92.25%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170432"/>
            <a:ext cx="1399032" cy="914400"/>
          </a:xfrm>
          <a:prstGeom prst="roundRect">
            <a:avLst/>
          </a:prstGeom>
          <a:solidFill>
            <a:srgbClr val="DD8047"/>
          </a:solidFill>
          <a:ln>
            <a:solidFill>
              <a:srgbClr val="DD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BEDBFF"/>
                </a:solidFill>
                <a:latin typeface="Calibri"/>
              </a:defRPr>
            </a:pPr>
            <a:r>
              <a:t>Precision</a:t>
            </a:r>
          </a:p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90.43%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170432"/>
            <a:ext cx="1399032" cy="914400"/>
          </a:xfrm>
          <a:prstGeom prst="roundRect">
            <a:avLst/>
          </a:prstGeom>
          <a:solidFill>
            <a:srgbClr val="1E7A3C"/>
          </a:solidFill>
          <a:ln>
            <a:solidFill>
              <a:srgbClr val="1E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BEDBFF"/>
                </a:solidFill>
                <a:latin typeface="Calibri"/>
              </a:defRPr>
            </a:pPr>
            <a:r>
              <a:t>Recall</a:t>
            </a:r>
          </a:p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94.50%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61320" y="1170432"/>
            <a:ext cx="1399032" cy="914400"/>
          </a:xfrm>
          <a:prstGeom prst="round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BEDBFF"/>
                </a:solidFill>
                <a:latin typeface="Calibri"/>
              </a:defRPr>
            </a:pPr>
            <a:r>
              <a:t>ROC-AUC</a:t>
            </a:r>
          </a:p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96.38%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212848"/>
            <a:ext cx="5806440" cy="438912"/>
          </a:xfrm>
          <a:prstGeom prst="roundRect">
            <a:avLst/>
          </a:prstGeom>
          <a:solidFill>
            <a:srgbClr val="2B2B2B"/>
          </a:solidFill>
          <a:ln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Algorithm:  Logistic Regression  +  StandardScaler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788920"/>
            <a:ext cx="5806440" cy="347472"/>
          </a:xfrm>
          <a:prstGeom prst="round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Confusion Matrix on Test Set</a:t>
            </a:r>
          </a:p>
        </p:txBody>
      </p:sp>
      <p:pic>
        <p:nvPicPr>
          <p:cNvPr id="19" name="Picture 18" descr="06_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235" y="3200400"/>
            <a:ext cx="3986368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"/>
            <a:ext cx="868680" cy="658368"/>
          </a:xfrm>
          <a:prstGeom prst="rect">
            <a:avLst/>
          </a:prstGeom>
          <a:solidFill>
            <a:srgbClr val="DD8047"/>
          </a:solidFill>
          <a:ln>
            <a:solidFill>
              <a:srgbClr val="DD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320040"/>
            <a:ext cx="868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20040"/>
            <a:ext cx="10442448" cy="658368"/>
          </a:xfrm>
          <a:prstGeom prst="rect">
            <a:avLst/>
          </a:prstGeom>
          <a:solidFill>
            <a:srgbClr val="94B6D2"/>
          </a:solidFill>
          <a:ln>
            <a:solidFill>
              <a:srgbClr val="94B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347472"/>
            <a:ext cx="100584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mbria"/>
              </a:defRPr>
            </a:pPr>
            <a:r>
              <a:t>Disease Model 2 — Type-2 Diabetes Mellitus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37160"/>
            <a:ext cx="640080" cy="75895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7233B"/>
          </a:solidFill>
          <a:ln>
            <a:solidFill>
              <a:srgbClr val="17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1612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  <a:latin typeface="Calibri"/>
              </a:defRPr>
            </a:pPr>
            <a:r>
              <a:t>Multi-Disease Prediction System using ML  |  Minor Project Part-I  |  RP-2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70432"/>
            <a:ext cx="5394960" cy="384048"/>
          </a:xfrm>
          <a:prstGeom prst="round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DATASET &amp;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64208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B2B2B"/>
                </a:solidFill>
                <a:latin typeface="Calibri"/>
              </a:defRPr>
            </a:pPr>
            <a:r>
              <a:t>• Disease:   Type-2 Diabetes Mellitus</a:t>
            </a:r>
          </a:p>
          <a:p>
            <a:pPr>
              <a:spcAft>
                <a:spcPts val="1000"/>
              </a:spcAft>
              <a:defRPr sz="1400">
                <a:solidFill>
                  <a:srgbClr val="2B2B2B"/>
                </a:solidFill>
                <a:latin typeface="Calibri"/>
              </a:defRPr>
            </a:pPr>
            <a:r>
              <a:t>• Source:    Pima Indians Diabetes DB (NIDDK/Kaggle)</a:t>
            </a:r>
          </a:p>
          <a:p>
            <a:pPr>
              <a:spcAft>
                <a:spcPts val="1000"/>
              </a:spcAft>
              <a:defRPr sz="1400">
                <a:solidFill>
                  <a:srgbClr val="2B2B2B"/>
                </a:solidFill>
                <a:latin typeface="Calibri"/>
              </a:defRPr>
            </a:pPr>
            <a:r>
              <a:t>• Records:   768  records</a:t>
            </a:r>
          </a:p>
          <a:p>
            <a:pPr>
              <a:spcAft>
                <a:spcPts val="1000"/>
              </a:spcAft>
              <a:defRPr sz="1400">
                <a:solidFill>
                  <a:srgbClr val="2B2B2B"/>
                </a:solidFill>
                <a:latin typeface="Calibri"/>
              </a:defRPr>
            </a:pPr>
            <a:r>
              <a:t>• Features:  8  input columns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77639"/>
            <a:ext cx="5394960" cy="384048"/>
          </a:xfrm>
          <a:prstGeom prst="roundRect">
            <a:avLst/>
          </a:prstGeom>
          <a:solidFill>
            <a:srgbClr val="DD8047"/>
          </a:solidFill>
          <a:ln>
            <a:solidFill>
              <a:srgbClr val="DD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KEY INPUT FEATURES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80560"/>
            <a:ext cx="5394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• Glucose, BMI</a:t>
            </a:r>
          </a:p>
          <a:p>
            <a:pPr>
              <a:spcAft>
                <a:spcPts val="10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• Blood Pressure, Insulin</a:t>
            </a:r>
          </a:p>
          <a:p>
            <a:pPr>
              <a:spcAft>
                <a:spcPts val="10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• Skin Thickness, Pregnancies</a:t>
            </a:r>
          </a:p>
          <a:p>
            <a:pPr>
              <a:spcAft>
                <a:spcPts val="10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• Diabetes Pedigree Function, Age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170432"/>
            <a:ext cx="1399032" cy="914400"/>
          </a:xfrm>
          <a:prstGeom prst="round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BEDBFF"/>
                </a:solidFill>
                <a:latin typeface="Calibri"/>
              </a:defRPr>
            </a:pPr>
            <a:r>
              <a:t>Accuracy</a:t>
            </a:r>
          </a:p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85.25%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170432"/>
            <a:ext cx="1399032" cy="914400"/>
          </a:xfrm>
          <a:prstGeom prst="roundRect">
            <a:avLst/>
          </a:prstGeom>
          <a:solidFill>
            <a:srgbClr val="DD8047"/>
          </a:solidFill>
          <a:ln>
            <a:solidFill>
              <a:srgbClr val="DD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BEDBFF"/>
                </a:solidFill>
                <a:latin typeface="Calibri"/>
              </a:defRPr>
            </a:pPr>
            <a:r>
              <a:t>Precision</a:t>
            </a:r>
          </a:p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83.41%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170432"/>
            <a:ext cx="1399032" cy="914400"/>
          </a:xfrm>
          <a:prstGeom prst="roundRect">
            <a:avLst/>
          </a:prstGeom>
          <a:solidFill>
            <a:srgbClr val="1E7A3C"/>
          </a:solidFill>
          <a:ln>
            <a:solidFill>
              <a:srgbClr val="1E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BEDBFF"/>
                </a:solidFill>
                <a:latin typeface="Calibri"/>
              </a:defRPr>
            </a:pPr>
            <a:r>
              <a:t>Recall</a:t>
            </a:r>
          </a:p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88.00%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61320" y="1170432"/>
            <a:ext cx="1399032" cy="914400"/>
          </a:xfrm>
          <a:prstGeom prst="round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BEDBFF"/>
                </a:solidFill>
                <a:latin typeface="Calibri"/>
              </a:defRPr>
            </a:pPr>
            <a:r>
              <a:t>ROC-AUC</a:t>
            </a:r>
          </a:p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93.61%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212848"/>
            <a:ext cx="5806440" cy="438912"/>
          </a:xfrm>
          <a:prstGeom prst="roundRect">
            <a:avLst/>
          </a:prstGeom>
          <a:solidFill>
            <a:srgbClr val="2B2B2B"/>
          </a:solidFill>
          <a:ln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Algorithm:  Gradient Boosting Classifier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788920"/>
            <a:ext cx="5806440" cy="347472"/>
          </a:xfrm>
          <a:prstGeom prst="round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Confusion Matrix on Test Set</a:t>
            </a:r>
          </a:p>
        </p:txBody>
      </p:sp>
      <p:pic>
        <p:nvPicPr>
          <p:cNvPr id="19" name="Picture 18" descr="06_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0914" y="3200400"/>
            <a:ext cx="3929010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"/>
            <a:ext cx="868680" cy="658368"/>
          </a:xfrm>
          <a:prstGeom prst="rect">
            <a:avLst/>
          </a:prstGeom>
          <a:solidFill>
            <a:srgbClr val="DD8047"/>
          </a:solidFill>
          <a:ln>
            <a:solidFill>
              <a:srgbClr val="DD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320040"/>
            <a:ext cx="868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20040"/>
            <a:ext cx="10442448" cy="658368"/>
          </a:xfrm>
          <a:prstGeom prst="rect">
            <a:avLst/>
          </a:prstGeom>
          <a:solidFill>
            <a:srgbClr val="94B6D2"/>
          </a:solidFill>
          <a:ln>
            <a:solidFill>
              <a:srgbClr val="94B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347472"/>
            <a:ext cx="100584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mbria"/>
              </a:defRPr>
            </a:pPr>
            <a:r>
              <a:t>Disease Model 3 — Parkinson's Disease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37160"/>
            <a:ext cx="640080" cy="75895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7233B"/>
          </a:solidFill>
          <a:ln>
            <a:solidFill>
              <a:srgbClr val="17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1612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  <a:latin typeface="Calibri"/>
              </a:defRPr>
            </a:pPr>
            <a:r>
              <a:t>Multi-Disease Prediction System using ML  |  Minor Project Part-I  |  RP-2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70432"/>
            <a:ext cx="5394960" cy="384048"/>
          </a:xfrm>
          <a:prstGeom prst="round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DATASET &amp;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64208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B2B2B"/>
                </a:solidFill>
                <a:latin typeface="Calibri"/>
              </a:defRPr>
            </a:pPr>
            <a:r>
              <a:t>• Disease:   Parkinson's Disease (Vocal Biomarkers)</a:t>
            </a:r>
          </a:p>
          <a:p>
            <a:pPr>
              <a:spcAft>
                <a:spcPts val="1000"/>
              </a:spcAft>
              <a:defRPr sz="1400">
                <a:solidFill>
                  <a:srgbClr val="2B2B2B"/>
                </a:solidFill>
                <a:latin typeface="Calibri"/>
              </a:defRPr>
            </a:pPr>
            <a:r>
              <a:t>• Source:    Oxford Telemonitoring Study (UCI)</a:t>
            </a:r>
          </a:p>
          <a:p>
            <a:pPr>
              <a:spcAft>
                <a:spcPts val="1000"/>
              </a:spcAft>
              <a:defRPr sz="1400">
                <a:solidFill>
                  <a:srgbClr val="2B2B2B"/>
                </a:solidFill>
                <a:latin typeface="Calibri"/>
              </a:defRPr>
            </a:pPr>
            <a:r>
              <a:t>• Records:   195  records</a:t>
            </a:r>
          </a:p>
          <a:p>
            <a:pPr>
              <a:spcAft>
                <a:spcPts val="1000"/>
              </a:spcAft>
              <a:defRPr sz="1400">
                <a:solidFill>
                  <a:srgbClr val="2B2B2B"/>
                </a:solidFill>
                <a:latin typeface="Calibri"/>
              </a:defRPr>
            </a:pPr>
            <a:r>
              <a:t>• Features:  22  input columns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977639"/>
            <a:ext cx="5394960" cy="384048"/>
          </a:xfrm>
          <a:prstGeom prst="roundRect">
            <a:avLst/>
          </a:prstGeom>
          <a:solidFill>
            <a:srgbClr val="DD8047"/>
          </a:solidFill>
          <a:ln>
            <a:solidFill>
              <a:srgbClr val="DD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KEY INPUT FEATURES USED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80560"/>
            <a:ext cx="53949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• Vocal frequencies (Fo, Fhi, Flo)</a:t>
            </a:r>
          </a:p>
          <a:p>
            <a:pPr>
              <a:spcAft>
                <a:spcPts val="10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• Jitter — frequency perturbations</a:t>
            </a:r>
          </a:p>
          <a:p>
            <a:pPr>
              <a:spcAft>
                <a:spcPts val="10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• Shimmer — amplitude perturbations</a:t>
            </a:r>
          </a:p>
          <a:p>
            <a:pPr>
              <a:spcAft>
                <a:spcPts val="1000"/>
              </a:spcAft>
              <a:defRPr sz="1300">
                <a:solidFill>
                  <a:srgbClr val="2B2B2B"/>
                </a:solidFill>
                <a:latin typeface="Calibri"/>
              </a:defRPr>
            </a:pPr>
            <a:r>
              <a:t>• HNR, NHR, PPE, RPDE, DFA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170432"/>
            <a:ext cx="1399032" cy="914400"/>
          </a:xfrm>
          <a:prstGeom prst="round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BEDBFF"/>
                </a:solidFill>
                <a:latin typeface="Calibri"/>
              </a:defRPr>
            </a:pPr>
            <a:r>
              <a:t>Accuracy</a:t>
            </a:r>
          </a:p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93.75%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1170432"/>
            <a:ext cx="1399032" cy="914400"/>
          </a:xfrm>
          <a:prstGeom prst="roundRect">
            <a:avLst/>
          </a:prstGeom>
          <a:solidFill>
            <a:srgbClr val="DD8047"/>
          </a:solidFill>
          <a:ln>
            <a:solidFill>
              <a:srgbClr val="DD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BEDBFF"/>
                </a:solidFill>
                <a:latin typeface="Calibri"/>
              </a:defRPr>
            </a:pPr>
            <a:r>
              <a:t>Precision</a:t>
            </a:r>
          </a:p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93.39%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1170432"/>
            <a:ext cx="1399032" cy="914400"/>
          </a:xfrm>
          <a:prstGeom prst="roundRect">
            <a:avLst/>
          </a:prstGeom>
          <a:solidFill>
            <a:srgbClr val="1E7A3C"/>
          </a:solidFill>
          <a:ln>
            <a:solidFill>
              <a:srgbClr val="1E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BEDBFF"/>
                </a:solidFill>
                <a:latin typeface="Calibri"/>
              </a:defRPr>
            </a:pPr>
            <a:r>
              <a:t>Recall</a:t>
            </a:r>
          </a:p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94.17%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61320" y="1170432"/>
            <a:ext cx="1399032" cy="914400"/>
          </a:xfrm>
          <a:prstGeom prst="roundRect">
            <a:avLst/>
          </a:prstGeom>
          <a:solidFill>
            <a:srgbClr val="6D28D9"/>
          </a:solidFill>
          <a:ln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>
                <a:solidFill>
                  <a:srgbClr val="BEDBFF"/>
                </a:solidFill>
                <a:latin typeface="Calibri"/>
              </a:defRPr>
            </a:pPr>
            <a:r>
              <a:t>ROC-AUC</a:t>
            </a:r>
          </a:p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94.57%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212848"/>
            <a:ext cx="5806440" cy="438912"/>
          </a:xfrm>
          <a:prstGeom prst="roundRect">
            <a:avLst/>
          </a:prstGeom>
          <a:solidFill>
            <a:srgbClr val="2B2B2B"/>
          </a:solidFill>
          <a:ln>
            <a:solidFill>
              <a:srgbClr val="2B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Algorithm:  Decision Tree Classifier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788920"/>
            <a:ext cx="5806440" cy="347472"/>
          </a:xfrm>
          <a:prstGeom prst="round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Confusion Matrix on Test Set</a:t>
            </a:r>
          </a:p>
        </p:txBody>
      </p:sp>
      <p:pic>
        <p:nvPicPr>
          <p:cNvPr id="19" name="Picture 18" descr="06_confusion_matr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4253" y="3200400"/>
            <a:ext cx="3862333" cy="31546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"/>
            <a:ext cx="868680" cy="658368"/>
          </a:xfrm>
          <a:prstGeom prst="rect">
            <a:avLst/>
          </a:prstGeom>
          <a:solidFill>
            <a:srgbClr val="DD8047"/>
          </a:solidFill>
          <a:ln>
            <a:solidFill>
              <a:srgbClr val="DD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320040"/>
            <a:ext cx="868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20040"/>
            <a:ext cx="10442448" cy="658368"/>
          </a:xfrm>
          <a:prstGeom prst="rect">
            <a:avLst/>
          </a:prstGeom>
          <a:solidFill>
            <a:srgbClr val="94B6D2"/>
          </a:solidFill>
          <a:ln>
            <a:solidFill>
              <a:srgbClr val="94B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347472"/>
            <a:ext cx="100584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mbria"/>
              </a:defRPr>
            </a:pPr>
            <a:r>
              <a:t>All 3 Models — Side-by-Side Comparison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37160"/>
            <a:ext cx="640080" cy="75895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7233B"/>
          </a:solidFill>
          <a:ln>
            <a:solidFill>
              <a:srgbClr val="17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1612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  <a:latin typeface="Calibri"/>
              </a:defRPr>
            </a:pPr>
            <a:r>
              <a:t>Multi-Disease Prediction System using ML  |  Minor Project Part-I  |  RP-2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170432"/>
          <a:ext cx="9784080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8293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Disease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Coronary Heart Disease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7A3C"/>
                          </a:solidFill>
                          <a:latin typeface="Calibri"/>
                        </a:defRPr>
                      </a:pPr>
                      <a:r>
                        <a:t>92.25%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7A3C"/>
                          </a:solidFill>
                          <a:latin typeface="Calibri"/>
                        </a:defRPr>
                      </a:pPr>
                      <a:r>
                        <a:t>90.43%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7A3C"/>
                          </a:solidFill>
                          <a:latin typeface="Calibri"/>
                        </a:defRPr>
                      </a:pPr>
                      <a:r>
                        <a:t>94.50%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7A3C"/>
                          </a:solidFill>
                          <a:latin typeface="Calibri"/>
                        </a:defRPr>
                      </a:pPr>
                      <a:r>
                        <a:t>96.38%</a:t>
                      </a:r>
                    </a:p>
                  </a:txBody>
                  <a:tcPr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Type-2 Diabetes Mellitus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7A3C"/>
                          </a:solidFill>
                          <a:latin typeface="Calibri"/>
                        </a:defRPr>
                      </a:pPr>
                      <a:r>
                        <a:t>85.25%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7A3C"/>
                          </a:solidFill>
                          <a:latin typeface="Calibri"/>
                        </a:defRPr>
                      </a:pPr>
                      <a:r>
                        <a:t>83.41%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7A3C"/>
                          </a:solidFill>
                          <a:latin typeface="Calibri"/>
                        </a:defRPr>
                      </a:pPr>
                      <a:r>
                        <a:t>88.00%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7A3C"/>
                          </a:solidFill>
                          <a:latin typeface="Calibri"/>
                        </a:defRPr>
                      </a:pPr>
                      <a:r>
                        <a:t>93.61%</a:t>
                      </a:r>
                    </a:p>
                  </a:txBody>
                  <a:tcPr>
                    <a:solidFill>
                      <a:srgbClr val="FFED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930"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Parkinson's Disease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Decision Tree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7A3C"/>
                          </a:solidFill>
                          <a:latin typeface="Calibri"/>
                        </a:defRPr>
                      </a:pPr>
                      <a:r>
                        <a:t>93.75%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7A3C"/>
                          </a:solidFill>
                          <a:latin typeface="Calibri"/>
                        </a:defRPr>
                      </a:pPr>
                      <a:r>
                        <a:t>93.39%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7A3C"/>
                          </a:solidFill>
                          <a:latin typeface="Calibri"/>
                        </a:defRPr>
                      </a:pPr>
                      <a:r>
                        <a:t>94.17%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1E7A3C"/>
                          </a:solidFill>
                          <a:latin typeface="Calibri"/>
                        </a:defRPr>
                      </a:pPr>
                      <a:r>
                        <a:t>94.57%</a:t>
                      </a:r>
                    </a:p>
                  </a:txBody>
                  <a:tcPr>
                    <a:solidFill>
                      <a:srgbClr val="D1FA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320040" y="3730752"/>
            <a:ext cx="3749039" cy="749808"/>
          </a:xfrm>
          <a:prstGeom prst="roundRect">
            <a:avLst/>
          </a:prstGeom>
          <a:solidFill>
            <a:srgbClr val="F6F8FA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50" b="1">
                <a:solidFill>
                  <a:srgbClr val="1E3A5F"/>
                </a:solidFill>
                <a:latin typeface="Calibri"/>
              </a:defRPr>
            </a:pPr>
            <a:r>
              <a:t>Best Accuracy</a:t>
            </a:r>
          </a:p>
          <a:p>
            <a:pPr algn="ctr">
              <a:defRPr sz="1100">
                <a:solidFill>
                  <a:srgbClr val="2B2B2B"/>
                </a:solidFill>
                <a:latin typeface="Calibri"/>
              </a:defRPr>
            </a:pPr>
            <a:r>
              <a:t>Parkinson's  —  93.75%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0248" y="3730752"/>
            <a:ext cx="3749039" cy="749808"/>
          </a:xfrm>
          <a:prstGeom prst="roundRect">
            <a:avLst/>
          </a:prstGeom>
          <a:solidFill>
            <a:srgbClr val="F6F8FA"/>
          </a:solidFill>
          <a:ln>
            <a:solidFill>
              <a:srgbClr val="DD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50" b="1">
                <a:solidFill>
                  <a:srgbClr val="DD8047"/>
                </a:solidFill>
                <a:latin typeface="Calibri"/>
              </a:defRPr>
            </a:pPr>
            <a:r>
              <a:t>Best ROC-AUC</a:t>
            </a:r>
          </a:p>
          <a:p>
            <a:pPr algn="ctr">
              <a:defRPr sz="1100">
                <a:solidFill>
                  <a:srgbClr val="2B2B2B"/>
                </a:solidFill>
                <a:latin typeface="Calibri"/>
              </a:defRPr>
            </a:pPr>
            <a:r>
              <a:t>Heart Disease  —  96.38%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0456" y="3730752"/>
            <a:ext cx="3749039" cy="749808"/>
          </a:xfrm>
          <a:prstGeom prst="roundRect">
            <a:avLst/>
          </a:prstGeom>
          <a:solidFill>
            <a:srgbClr val="F6F8FA"/>
          </a:solidFill>
          <a:ln>
            <a:solidFill>
              <a:srgbClr val="1E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50" b="1">
                <a:solidFill>
                  <a:srgbClr val="1E7A3C"/>
                </a:solidFill>
                <a:latin typeface="Calibri"/>
              </a:defRPr>
            </a:pPr>
            <a:r>
              <a:t>Highest Recall</a:t>
            </a:r>
          </a:p>
          <a:p>
            <a:pPr algn="ctr">
              <a:defRPr sz="1100">
                <a:solidFill>
                  <a:srgbClr val="2B2B2B"/>
                </a:solidFill>
                <a:latin typeface="Calibri"/>
              </a:defRPr>
            </a:pPr>
            <a:r>
              <a:t>Heart Disease  —  94.50%  ← most important metric for clinical 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4663440"/>
            <a:ext cx="115671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A6472"/>
                </a:solidFill>
                <a:latin typeface="Calibri"/>
              </a:defRPr>
            </a:pPr>
            <a:r>
              <a:t>Why Recall matters in clinical settings: A false negative (missed diagnosis) is far more dangerous than a false positive. High recall = fewer missed high-risk patients.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0040" y="5486400"/>
            <a:ext cx="11567160" cy="438912"/>
          </a:xfrm>
          <a:prstGeom prst="roundRect">
            <a:avLst/>
          </a:prstGeom>
          <a:solidFill>
            <a:srgbClr val="1E7A3C"/>
          </a:solidFill>
          <a:ln>
            <a:solidFill>
              <a:srgbClr val="1E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All 3 models trained, serialized to .pkl files, and served via Flask REST API  —  live and operational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"/>
            <a:ext cx="868680" cy="658368"/>
          </a:xfrm>
          <a:prstGeom prst="rect">
            <a:avLst/>
          </a:prstGeom>
          <a:solidFill>
            <a:srgbClr val="DD8047"/>
          </a:solidFill>
          <a:ln>
            <a:solidFill>
              <a:srgbClr val="DD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320040"/>
            <a:ext cx="868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20040"/>
            <a:ext cx="10442448" cy="658368"/>
          </a:xfrm>
          <a:prstGeom prst="rect">
            <a:avLst/>
          </a:prstGeom>
          <a:solidFill>
            <a:srgbClr val="94B6D2"/>
          </a:solidFill>
          <a:ln>
            <a:solidFill>
              <a:srgbClr val="94B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347472"/>
            <a:ext cx="100584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mbria"/>
              </a:defRPr>
            </a:pPr>
            <a:r>
              <a:t>Backend Implementation &amp; Model Serving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37160"/>
            <a:ext cx="640080" cy="75895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7233B"/>
          </a:solidFill>
          <a:ln>
            <a:solidFill>
              <a:srgbClr val="17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1612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  <a:latin typeface="Calibri"/>
              </a:defRPr>
            </a:pPr>
            <a:r>
              <a:t>Multi-Disease Prediction System using ML  |  Minor Project Part-I  |  RP-2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70432"/>
            <a:ext cx="11064240" cy="384048"/>
          </a:xfrm>
          <a:prstGeom prst="round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HOW IT WORKS — 4 SIMPLE STEPS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1792224"/>
            <a:ext cx="365760" cy="365760"/>
          </a:xfrm>
          <a:prstGeom prst="ellipse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764792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719072"/>
            <a:ext cx="10561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5F"/>
                </a:solidFill>
                <a:latin typeface="Calibri"/>
              </a:defRPr>
            </a:pPr>
            <a:r>
              <a:t>Step 1</a:t>
            </a:r>
          </a:p>
          <a:p>
            <a:pPr>
              <a:defRPr sz="1400">
                <a:solidFill>
                  <a:srgbClr val="2B2B2B"/>
                </a:solidFill>
                <a:latin typeface="Calibri"/>
              </a:defRPr>
            </a:pPr>
            <a:r>
              <a:t>The web page collects input values from the user and sends a POST request to the Flask backend.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2798064"/>
            <a:ext cx="365760" cy="365760"/>
          </a:xfrm>
          <a:prstGeom prst="ellipse">
            <a:avLst/>
          </a:prstGeom>
          <a:solidFill>
            <a:srgbClr val="DD8047"/>
          </a:solidFill>
          <a:ln>
            <a:solidFill>
              <a:srgbClr val="DD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8640" y="2770632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2724912"/>
            <a:ext cx="10561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D8047"/>
                </a:solidFill>
                <a:latin typeface="Calibri"/>
              </a:defRPr>
            </a:pPr>
            <a:r>
              <a:t>Step 2</a:t>
            </a:r>
          </a:p>
          <a:p>
            <a:pPr>
              <a:defRPr sz="1400">
                <a:solidFill>
                  <a:srgbClr val="2B2B2B"/>
                </a:solidFill>
                <a:latin typeface="Calibri"/>
              </a:defRPr>
            </a:pPr>
            <a:r>
              <a:t>Flask receives the JSON data and identifies which disease endpoint was called (/heart, /diabetes, /parkinsons).</a:t>
            </a:r>
          </a:p>
        </p:txBody>
      </p:sp>
      <p:sp>
        <p:nvSpPr>
          <p:cNvPr id="16" name="Oval 15"/>
          <p:cNvSpPr/>
          <p:nvPr/>
        </p:nvSpPr>
        <p:spPr>
          <a:xfrm>
            <a:off x="548640" y="3803904"/>
            <a:ext cx="365760" cy="365760"/>
          </a:xfrm>
          <a:prstGeom prst="ellipse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3776472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730752"/>
            <a:ext cx="10561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3A5F"/>
                </a:solidFill>
                <a:latin typeface="Calibri"/>
              </a:defRPr>
            </a:pPr>
            <a:r>
              <a:t>Step 3</a:t>
            </a:r>
          </a:p>
          <a:p>
            <a:pPr>
              <a:defRPr sz="1400">
                <a:solidFill>
                  <a:srgbClr val="2B2B2B"/>
                </a:solidFill>
                <a:latin typeface="Calibri"/>
              </a:defRPr>
            </a:pPr>
            <a:r>
              <a:t>The matching pre-trained model (.pkl file) runs predict() and predict_proba() on the input data.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809744"/>
            <a:ext cx="365760" cy="365760"/>
          </a:xfrm>
          <a:prstGeom prst="ellipse">
            <a:avLst/>
          </a:prstGeom>
          <a:solidFill>
            <a:srgbClr val="DD8047"/>
          </a:solidFill>
          <a:ln>
            <a:solidFill>
              <a:srgbClr val="DD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8640" y="4782312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4736592"/>
            <a:ext cx="10561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D8047"/>
                </a:solidFill>
                <a:latin typeface="Calibri"/>
              </a:defRPr>
            </a:pPr>
            <a:r>
              <a:t>Step 4</a:t>
            </a:r>
          </a:p>
          <a:p>
            <a:pPr>
              <a:defRPr sz="1400">
                <a:solidFill>
                  <a:srgbClr val="2B2B2B"/>
                </a:solidFill>
                <a:latin typeface="Calibri"/>
              </a:defRPr>
            </a:pPr>
            <a:r>
              <a:t>Flask returns a JSON response with: prediction (0 or 1), risk status label, and probability percentage.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961888"/>
            <a:ext cx="11064240" cy="438912"/>
          </a:xfrm>
          <a:prstGeom prst="roundRect">
            <a:avLst/>
          </a:prstGeom>
          <a:solidFill>
            <a:srgbClr val="17233B"/>
          </a:solidFill>
          <a:ln>
            <a:solidFill>
              <a:srgbClr val="17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Saved models:  heart_logistic_regression.pkl  |  diabetes_gradient_boosting.pkl  |  parkinsons_decision_tree.pkl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"/>
            <a:ext cx="868680" cy="658368"/>
          </a:xfrm>
          <a:prstGeom prst="rect">
            <a:avLst/>
          </a:prstGeom>
          <a:solidFill>
            <a:srgbClr val="DD8047"/>
          </a:solidFill>
          <a:ln>
            <a:solidFill>
              <a:srgbClr val="DD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320040"/>
            <a:ext cx="868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20040"/>
            <a:ext cx="10442448" cy="658368"/>
          </a:xfrm>
          <a:prstGeom prst="rect">
            <a:avLst/>
          </a:prstGeom>
          <a:solidFill>
            <a:srgbClr val="94B6D2"/>
          </a:solidFill>
          <a:ln>
            <a:solidFill>
              <a:srgbClr val="94B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347472"/>
            <a:ext cx="100584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mbria"/>
              </a:defRPr>
            </a:pPr>
            <a:r>
              <a:t>Frontend Prototype Overview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37160"/>
            <a:ext cx="640080" cy="75895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7233B"/>
          </a:solidFill>
          <a:ln>
            <a:solidFill>
              <a:srgbClr val="17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1612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  <a:latin typeface="Calibri"/>
              </a:defRPr>
            </a:pPr>
            <a:r>
              <a:t>Multi-Disease Prediction System using ML  |  Minor Project Part-I  |  RP-2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70432"/>
            <a:ext cx="11064240" cy="384048"/>
          </a:xfrm>
          <a:prstGeom prst="round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HOW THE WEB INTERFACE 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91640"/>
            <a:ext cx="110642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B2B2B"/>
                </a:solidFill>
                <a:latin typeface="Calibri"/>
              </a:defRPr>
            </a:pPr>
            <a:r>
              <a:t>• The home page has 3 tabs — one for each disease (Heart, Diabetes, Parkinson's).</a:t>
            </a:r>
          </a:p>
          <a:p>
            <a:pPr>
              <a:spcAft>
                <a:spcPts val="1000"/>
              </a:spcAft>
              <a:defRPr sz="1500">
                <a:solidFill>
                  <a:srgbClr val="2B2B2B"/>
                </a:solidFill>
                <a:latin typeface="Calibri"/>
              </a:defRPr>
            </a:pPr>
            <a:r>
              <a:t>• Each tab shows a clean input form with the right fields for that disease.</a:t>
            </a:r>
          </a:p>
          <a:p>
            <a:pPr>
              <a:spcAft>
                <a:spcPts val="1000"/>
              </a:spcAft>
              <a:defRPr sz="1500">
                <a:solidFill>
                  <a:srgbClr val="2B2B2B"/>
                </a:solidFill>
                <a:latin typeface="Calibri"/>
              </a:defRPr>
            </a:pPr>
            <a:r>
              <a:t>• Click 'High-Risk Sample' or 'Normal Sample' to auto-fill test data instantly.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337560"/>
            <a:ext cx="5349240" cy="1325880"/>
          </a:xfrm>
          <a:prstGeom prst="roundRect">
            <a:avLst/>
          </a:prstGeom>
          <a:solidFill>
            <a:srgbClr val="F6F8FA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48640" y="3337560"/>
            <a:ext cx="5349240" cy="347472"/>
          </a:xfrm>
          <a:prstGeom prst="round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Input 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758184"/>
            <a:ext cx="5074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B2B2B"/>
                </a:solidFill>
                <a:latin typeface="Calibri"/>
              </a:defRPr>
            </a:pPr>
            <a:r>
              <a:t>Fields labelled with medical units (mm Hg, mg/dL, Hz). Dropdowns for categories like sex, chest pain type.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337560"/>
            <a:ext cx="5349240" cy="1325880"/>
          </a:xfrm>
          <a:prstGeom prst="roundRect">
            <a:avLst/>
          </a:prstGeom>
          <a:solidFill>
            <a:srgbClr val="F6F8FA"/>
          </a:solidFill>
          <a:ln>
            <a:solidFill>
              <a:srgbClr val="DD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172200" y="3337560"/>
            <a:ext cx="5349240" cy="347472"/>
          </a:xfrm>
          <a:prstGeom prst="roundRect">
            <a:avLst/>
          </a:prstGeom>
          <a:solidFill>
            <a:srgbClr val="DD8047"/>
          </a:solidFill>
          <a:ln>
            <a:solidFill>
              <a:srgbClr val="DD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Result Panel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758184"/>
            <a:ext cx="5074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B2B2B"/>
                </a:solidFill>
                <a:latin typeface="Calibri"/>
              </a:defRPr>
            </a:pPr>
            <a:r>
              <a:t>Shows: Risk badge (High Risk / Normal), Probability % bar, Clinical advice text.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818888"/>
            <a:ext cx="5349240" cy="1325880"/>
          </a:xfrm>
          <a:prstGeom prst="roundRect">
            <a:avLst/>
          </a:prstGeom>
          <a:solidFill>
            <a:srgbClr val="F6F8FA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48640" y="4818888"/>
            <a:ext cx="5349240" cy="347472"/>
          </a:xfrm>
          <a:prstGeom prst="round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1-Click Presets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239512"/>
            <a:ext cx="5074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B2B2B"/>
                </a:solidFill>
                <a:latin typeface="Calibri"/>
              </a:defRPr>
            </a:pPr>
            <a:r>
              <a:t>Pre-filled with real verified samples. Great for demos and viva presentations.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818888"/>
            <a:ext cx="5349240" cy="1325880"/>
          </a:xfrm>
          <a:prstGeom prst="roundRect">
            <a:avLst/>
          </a:prstGeom>
          <a:solidFill>
            <a:srgbClr val="F6F8FA"/>
          </a:solidFill>
          <a:ln>
            <a:solidFill>
              <a:srgbClr val="DD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172200" y="4818888"/>
            <a:ext cx="5349240" cy="347472"/>
          </a:xfrm>
          <a:prstGeom prst="roundRect">
            <a:avLst/>
          </a:prstGeom>
          <a:solidFill>
            <a:srgbClr val="DD8047"/>
          </a:solidFill>
          <a:ln>
            <a:solidFill>
              <a:srgbClr val="DD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FFFFFF"/>
                </a:solidFill>
                <a:latin typeface="Calibri"/>
              </a:defRPr>
            </a:pPr>
            <a:r>
              <a:t>Offline Mode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5239512"/>
            <a:ext cx="5074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2B2B2B"/>
                </a:solidFill>
                <a:latin typeface="Calibri"/>
              </a:defRPr>
            </a:pPr>
            <a:r>
              <a:t>If Flask is not running, a smart simulation still shows results — the page never breaks.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"/>
            <a:ext cx="868680" cy="658368"/>
          </a:xfrm>
          <a:prstGeom prst="rect">
            <a:avLst/>
          </a:prstGeom>
          <a:solidFill>
            <a:srgbClr val="DD8047"/>
          </a:solidFill>
          <a:ln>
            <a:solidFill>
              <a:srgbClr val="DD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320040"/>
            <a:ext cx="868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20040"/>
            <a:ext cx="10442448" cy="658368"/>
          </a:xfrm>
          <a:prstGeom prst="rect">
            <a:avLst/>
          </a:prstGeom>
          <a:solidFill>
            <a:srgbClr val="94B6D2"/>
          </a:solidFill>
          <a:ln>
            <a:solidFill>
              <a:srgbClr val="94B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347472"/>
            <a:ext cx="100584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mbria"/>
              </a:defRPr>
            </a:pPr>
            <a:r>
              <a:t>Working Prototype — Dashboard &amp; Heart Disease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37160"/>
            <a:ext cx="640080" cy="75895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7233B"/>
          </a:solidFill>
          <a:ln>
            <a:solidFill>
              <a:srgbClr val="17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1612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  <a:latin typeface="Calibri"/>
              </a:defRPr>
            </a:pPr>
            <a:r>
              <a:t>Multi-Disease Prediction System using ML  |  Minor Project Part-I  |  RP-2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70432"/>
            <a:ext cx="5532120" cy="347472"/>
          </a:xfrm>
          <a:prstGeom prst="round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Home Dashboard  (index.html)</a:t>
            </a:r>
          </a:p>
        </p:txBody>
      </p:sp>
      <p:pic>
        <p:nvPicPr>
          <p:cNvPr id="10" name="Picture 9" descr="prototype_screensh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16191"/>
            <a:ext cx="5532120" cy="367367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806440"/>
            <a:ext cx="5532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472"/>
                </a:solidFill>
                <a:latin typeface="Calibri"/>
              </a:defRPr>
            </a:pPr>
            <a:r>
              <a:t>3 disease tabs, live backend status, preset buttons.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170432"/>
            <a:ext cx="5532120" cy="347472"/>
          </a:xfrm>
          <a:prstGeom prst="roundRect">
            <a:avLst/>
          </a:prstGeom>
          <a:solidFill>
            <a:srgbClr val="DD8047"/>
          </a:solidFill>
          <a:ln>
            <a:solidFill>
              <a:srgbClr val="DD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Heart Disease — High Risk Detected (60.85%)</a:t>
            </a:r>
          </a:p>
        </p:txBody>
      </p:sp>
      <p:pic>
        <p:nvPicPr>
          <p:cNvPr id="13" name="Picture 12" descr="prototype_he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881020"/>
            <a:ext cx="5532120" cy="354401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5806440"/>
            <a:ext cx="5532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472"/>
                </a:solidFill>
                <a:latin typeface="Calibri"/>
              </a:defRPr>
            </a:pPr>
            <a:r>
              <a:t>13-feature form → Logistic Regression → 60.85% cardiac risk + ECG advisory.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"/>
            <a:ext cx="868680" cy="658368"/>
          </a:xfrm>
          <a:prstGeom prst="rect">
            <a:avLst/>
          </a:prstGeom>
          <a:solidFill>
            <a:srgbClr val="DD8047"/>
          </a:solidFill>
          <a:ln>
            <a:solidFill>
              <a:srgbClr val="DD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320040"/>
            <a:ext cx="868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20040"/>
            <a:ext cx="10442448" cy="658368"/>
          </a:xfrm>
          <a:prstGeom prst="rect">
            <a:avLst/>
          </a:prstGeom>
          <a:solidFill>
            <a:srgbClr val="94B6D2"/>
          </a:solidFill>
          <a:ln>
            <a:solidFill>
              <a:srgbClr val="94B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347472"/>
            <a:ext cx="100584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mbria"/>
              </a:defRPr>
            </a:pPr>
            <a:r>
              <a:t>Working Prototype — Diabetes &amp; Parkinson's Screening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37160"/>
            <a:ext cx="640080" cy="75895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7233B"/>
          </a:solidFill>
          <a:ln>
            <a:solidFill>
              <a:srgbClr val="17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1612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  <a:latin typeface="Calibri"/>
              </a:defRPr>
            </a:pPr>
            <a:r>
              <a:t>Multi-Disease Prediction System using ML  |  Minor Project Part-I  |  RP-2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170432"/>
            <a:ext cx="5532120" cy="347472"/>
          </a:xfrm>
          <a:prstGeom prst="roundRect">
            <a:avLst/>
          </a:prstGeom>
          <a:solidFill>
            <a:srgbClr val="DD8047"/>
          </a:solidFill>
          <a:ln>
            <a:solidFill>
              <a:srgbClr val="DD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Diabetes — High Risk (94.63%)</a:t>
            </a:r>
          </a:p>
        </p:txBody>
      </p:sp>
      <p:pic>
        <p:nvPicPr>
          <p:cNvPr id="10" name="Picture 9" descr="prototype_diabet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881020"/>
            <a:ext cx="5532120" cy="35440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5806440"/>
            <a:ext cx="5532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472"/>
                </a:solidFill>
                <a:latin typeface="Calibri"/>
              </a:defRPr>
            </a:pPr>
            <a:r>
              <a:t>Glucose=148, BMI=33.6 → Gradient Boosting → 94.63% diabetic risk.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170432"/>
            <a:ext cx="5532120" cy="347472"/>
          </a:xfrm>
          <a:prstGeom prst="round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Parkinson's — Disease Detected (94.66%)</a:t>
            </a:r>
          </a:p>
        </p:txBody>
      </p:sp>
      <p:pic>
        <p:nvPicPr>
          <p:cNvPr id="13" name="Picture 12" descr="prototype_parkins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881020"/>
            <a:ext cx="5532120" cy="354401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172200" y="5806440"/>
            <a:ext cx="5532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A6472"/>
                </a:solidFill>
                <a:latin typeface="Calibri"/>
              </a:defRPr>
            </a:pPr>
            <a:r>
              <a:t>22 acoustic features → Decision Tree → Parkinson's vocal pattern detected.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"/>
            <a:ext cx="868680" cy="658368"/>
          </a:xfrm>
          <a:prstGeom prst="rect">
            <a:avLst/>
          </a:prstGeom>
          <a:solidFill>
            <a:srgbClr val="DD8047"/>
          </a:solidFill>
          <a:ln>
            <a:solidFill>
              <a:srgbClr val="DD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320040"/>
            <a:ext cx="868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20040"/>
            <a:ext cx="10442448" cy="658368"/>
          </a:xfrm>
          <a:prstGeom prst="rect">
            <a:avLst/>
          </a:prstGeom>
          <a:solidFill>
            <a:srgbClr val="94B6D2"/>
          </a:solidFill>
          <a:ln>
            <a:solidFill>
              <a:srgbClr val="94B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347472"/>
            <a:ext cx="100584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mbria"/>
              </a:defRPr>
            </a:pPr>
            <a:r>
              <a:t>Week-by-Week Progress (13-Week Roadmap)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37160"/>
            <a:ext cx="640080" cy="75895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7233B"/>
          </a:solidFill>
          <a:ln>
            <a:solidFill>
              <a:srgbClr val="17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1612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  <a:latin typeface="Calibri"/>
              </a:defRPr>
            </a:pPr>
            <a:r>
              <a:t>Multi-Disease Prediction System using ML  |  Minor Project Part-I  |  RP-2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228600" y="1170432"/>
          <a:ext cx="11731752" cy="5285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85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7516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Wk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Dates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516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21–25 Jul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Project scoping &amp; dataset exploration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7A3C"/>
                          </a:solidFill>
                          <a:latin typeface="Calibri"/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516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27 Jul–1 Aug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Requirements, schedule, problem definition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7A3C"/>
                          </a:solidFill>
                          <a:latin typeface="Calibri"/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7516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3–8 Aug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Data collection &amp; ML algorithm research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7A3C"/>
                          </a:solidFill>
                          <a:latin typeface="Calibri"/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516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10–15 Aug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EDA, visualization &amp; data cleaning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7A3C"/>
                          </a:solidFill>
                          <a:latin typeface="Calibri"/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516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17–22 Aug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Final algorithm selection for each disease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7A3C"/>
                          </a:solidFill>
                          <a:latin typeface="Calibri"/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7516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24–29 Aug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Diabetes model training — Gradient Boosting (85.25%)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7A3C"/>
                          </a:solidFill>
                          <a:latin typeface="Calibri"/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516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31 Aug–5 Sep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Heart Disease model training — Logistic Reg (92.25%)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7A3C"/>
                          </a:solidFill>
                          <a:latin typeface="Calibri"/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7516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7–12 Sep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Parkinson's model training — Decision Tree (93.75%)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7A3C"/>
                          </a:solidFill>
                          <a:latin typeface="Calibri"/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7516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14–19 Sep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Model evaluation — ROC-AUC, Confusion Matrix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7A3C"/>
                          </a:solidFill>
                          <a:latin typeface="Calibri"/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7516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21–26 Sep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Flask API + Web GUI prototype 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E7A3C"/>
                          </a:solidFill>
                          <a:latin typeface="Calibri"/>
                        </a:defRPr>
                      </a:pPr>
                      <a:r>
                        <a:t>Done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7516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28 Sep–3 Oct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System testing &amp; boundary validation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DD8047"/>
                          </a:solidFill>
                          <a:latin typeface="Calibri"/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7516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5–10 Oct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Explainability (SHAP) &amp; documentation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5A6472"/>
                          </a:solidFill>
                          <a:latin typeface="Calibri"/>
                        </a:defRPr>
                      </a:pPr>
                      <a:r>
                        <a:t>Pending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7524"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12–17 Oct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2B2B2B"/>
                          </a:solidFill>
                          <a:latin typeface="Calibri"/>
                        </a:defRPr>
                      </a:pPr>
                      <a:r>
                        <a:t>Final report &amp; viva preparation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5A6472"/>
                          </a:solidFill>
                          <a:latin typeface="Calibri"/>
                        </a:defRPr>
                      </a:pPr>
                      <a:r>
                        <a:t>Pending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0040"/>
            <a:ext cx="868680" cy="658368"/>
          </a:xfrm>
          <a:prstGeom prst="rect">
            <a:avLst/>
          </a:prstGeom>
          <a:solidFill>
            <a:srgbClr val="DD8047"/>
          </a:solidFill>
          <a:ln>
            <a:solidFill>
              <a:srgbClr val="DD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0" y="320040"/>
            <a:ext cx="868680" cy="6583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20040"/>
            <a:ext cx="10442448" cy="658368"/>
          </a:xfrm>
          <a:prstGeom prst="rect">
            <a:avLst/>
          </a:prstGeom>
          <a:solidFill>
            <a:srgbClr val="94B6D2"/>
          </a:solidFill>
          <a:ln>
            <a:solidFill>
              <a:srgbClr val="94B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24128" y="347472"/>
            <a:ext cx="10058400" cy="621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Cambria"/>
              </a:defRPr>
            </a:pPr>
            <a:r>
              <a:t>What's Left &amp; Conclusion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280" y="137160"/>
            <a:ext cx="640080" cy="75895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17233B"/>
          </a:solidFill>
          <a:ln>
            <a:solidFill>
              <a:srgbClr val="1723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6565392"/>
            <a:ext cx="116128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CBD5E1"/>
                </a:solidFill>
                <a:latin typeface="Calibri"/>
              </a:defRPr>
            </a:pPr>
            <a:r>
              <a:t>Multi-Disease Prediction System using ML  |  Minor Project Part-I  |  RP-2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1170432"/>
            <a:ext cx="5349240" cy="384048"/>
          </a:xfrm>
          <a:prstGeom prst="roundRect">
            <a:avLst/>
          </a:prstGeom>
          <a:solidFill>
            <a:srgbClr val="DD8047"/>
          </a:solidFill>
          <a:ln>
            <a:solidFill>
              <a:srgbClr val="DD80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REMAINING TASKS (Weeks 11–13)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719072"/>
            <a:ext cx="5349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D8047"/>
                </a:solidFill>
                <a:latin typeface="Calibri"/>
              </a:rPr>
              <a:t>Week 11 — Testing:</a:t>
            </a:r>
          </a:p>
          <a:p>
            <a:pPr>
              <a:defRPr sz="1400">
                <a:solidFill>
                  <a:srgbClr val="2B2B2B"/>
                </a:solidFill>
                <a:latin typeface="Calibri"/>
              </a:defRPr>
            </a:pPr>
            <a:r>
              <a:t>Run edge-case inputs to check for crashes or wrong outputs.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90672"/>
            <a:ext cx="5349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D8047"/>
                </a:solidFill>
                <a:latin typeface="Calibri"/>
              </a:rPr>
              <a:t>Week 12 — Explainability:</a:t>
            </a:r>
          </a:p>
          <a:p>
            <a:pPr>
              <a:defRPr sz="1400">
                <a:solidFill>
                  <a:srgbClr val="2B2B2B"/>
                </a:solidFill>
                <a:latin typeface="Calibri"/>
              </a:defRPr>
            </a:pPr>
            <a:r>
              <a:t>Add SHAP charts to show which feature most influenced each prediction.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62272"/>
            <a:ext cx="5349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D8047"/>
                </a:solidFill>
                <a:latin typeface="Calibri"/>
              </a:rPr>
              <a:t>Week 13 — Final Report:</a:t>
            </a:r>
          </a:p>
          <a:p>
            <a:pPr>
              <a:defRPr sz="1400">
                <a:solidFill>
                  <a:srgbClr val="2B2B2B"/>
                </a:solidFill>
                <a:latin typeface="Calibri"/>
              </a:defRPr>
            </a:pPr>
            <a:r>
              <a:t>Write the project report and prepare the viva presentation.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170432"/>
            <a:ext cx="5577840" cy="384048"/>
          </a:xfrm>
          <a:prstGeom prst="round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WHAT WE ACHIEVED BY PANEL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691640"/>
            <a:ext cx="5577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B2B2B"/>
                </a:solidFill>
                <a:latin typeface="Calibri"/>
              </a:defRPr>
            </a:pPr>
            <a:r>
              <a:t>• 3 disease models trained and evaluated (17 classifiers total).</a:t>
            </a:r>
          </a:p>
          <a:p>
            <a:pPr>
              <a:spcAft>
                <a:spcPts val="1000"/>
              </a:spcAft>
              <a:defRPr sz="1400">
                <a:solidFill>
                  <a:srgbClr val="2B2B2B"/>
                </a:solidFill>
                <a:latin typeface="Calibri"/>
              </a:defRPr>
            </a:pPr>
            <a:r>
              <a:t>• Best models: LR 92.25%, GB 85.25%, DT 93.75% accuracy.</a:t>
            </a:r>
          </a:p>
          <a:p>
            <a:pPr>
              <a:spcAft>
                <a:spcPts val="1000"/>
              </a:spcAft>
              <a:defRPr sz="1400">
                <a:solidFill>
                  <a:srgbClr val="2B2B2B"/>
                </a:solidFill>
                <a:latin typeface="Calibri"/>
              </a:defRPr>
            </a:pPr>
            <a:r>
              <a:t>• All models saved as .pkl files and served via Flask REST API.</a:t>
            </a:r>
          </a:p>
          <a:p>
            <a:pPr>
              <a:spcAft>
                <a:spcPts val="1000"/>
              </a:spcAft>
              <a:defRPr sz="1400">
                <a:solidFill>
                  <a:srgbClr val="2B2B2B"/>
                </a:solidFill>
                <a:latin typeface="Calibri"/>
              </a:defRPr>
            </a:pPr>
            <a:r>
              <a:t>• Interactive web prototype built and working end-to-end.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4828032"/>
            <a:ext cx="5577840" cy="1481328"/>
          </a:xfrm>
          <a:prstGeom prst="roundRect">
            <a:avLst/>
          </a:prstGeom>
          <a:solidFill>
            <a:srgbClr val="D1FAE5"/>
          </a:solidFill>
          <a:ln>
            <a:solidFill>
              <a:srgbClr val="1E7A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300" b="1">
                <a:solidFill>
                  <a:srgbClr val="1E7A3C"/>
                </a:solidFill>
                <a:latin typeface="Calibri"/>
              </a:defRPr>
            </a:pPr>
            <a:r>
              <a:t>Final Goal</a:t>
            </a:r>
          </a:p>
          <a:p>
            <a:pPr>
              <a:defRPr sz="1300">
                <a:solidFill>
                  <a:srgbClr val="2B2B2B"/>
                </a:solidFill>
                <a:latin typeface="Calibri"/>
              </a:defRPr>
            </a:pPr>
            <a:r>
              <a:t>A single web app where a patient enters basic health parameters and instantly gets a risk assessment for 3 major chronic diseases — fast, accessible, and non-invasive.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D9A78"/>
      </a:accent1>
      <a:accent2>
        <a:srgbClr val="8BC145"/>
      </a:accent2>
      <a:accent3>
        <a:srgbClr val="36AFCE"/>
      </a:accent3>
      <a:accent4>
        <a:srgbClr val="1D6FA9"/>
      </a:accent4>
      <a:accent5>
        <a:srgbClr val="B74919"/>
      </a:accent5>
      <a:accent6>
        <a:srgbClr val="F19D19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AE6F2518-B084-4896-AF52-66CC2144AA2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155</TotalTime>
  <Words>1642</Words>
  <Application>Microsoft Office PowerPoint</Application>
  <PresentationFormat>Widescreen</PresentationFormat>
  <Paragraphs>284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Lakshya Asati</cp:lastModifiedBy>
  <cp:revision>2</cp:revision>
  <dcterms:created xsi:type="dcterms:W3CDTF">2026-09-01T18:08:39Z</dcterms:created>
  <dcterms:modified xsi:type="dcterms:W3CDTF">2026-10-24T22:49:13Z</dcterms:modified>
</cp:coreProperties>
</file>