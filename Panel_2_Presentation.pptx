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8"/>
  </p:notesMasterIdLst>
  <p:sldIdLst>
    <p:sldId id="270" r:id="rId2"/>
    <p:sldId id="271" r:id="rId3"/>
    <p:sldId id="272" r:id="rId4"/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5" r:id="rId16"/>
    <p:sldId id="284" r:id="rId17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80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kshya Asati" userId="d1b6aaae16d5d66c" providerId="LiveId" clId="{9FA11CD9-C934-4AEB-8BC0-369F230C892D}"/>
    <pc:docChg chg="undo redo custSel modSld">
      <pc:chgData name="Lakshya Asati" userId="d1b6aaae16d5d66c" providerId="LiveId" clId="{9FA11CD9-C934-4AEB-8BC0-369F230C892D}" dt="2026-10-24T22:49:08.545" v="467" actId="1076"/>
      <pc:docMkLst>
        <pc:docMk/>
      </pc:docMkLst>
      <pc:sldChg chg="delSp modSp mod">
        <pc:chgData name="Lakshya Asati" userId="d1b6aaae16d5d66c" providerId="LiveId" clId="{9FA11CD9-C934-4AEB-8BC0-369F230C892D}" dt="2026-10-24T22:49:08.545" v="467" actId="1076"/>
        <pc:sldMkLst>
          <pc:docMk/>
          <pc:sldMk cId="0" sldId="270"/>
        </pc:sldMkLst>
        <pc:spChg chg="mod">
          <ac:chgData name="Lakshya Asati" userId="d1b6aaae16d5d66c" providerId="LiveId" clId="{9FA11CD9-C934-4AEB-8BC0-369F230C892D}" dt="2026-10-24T22:48:56.694" v="465" actId="122"/>
          <ac:spMkLst>
            <pc:docMk/>
            <pc:sldMk cId="0" sldId="270"/>
            <ac:spMk id="2" creationId="{00000000-0000-0000-0000-000000000000}"/>
          </ac:spMkLst>
        </pc:spChg>
        <pc:spChg chg="del">
          <ac:chgData name="Lakshya Asati" userId="d1b6aaae16d5d66c" providerId="LiveId" clId="{9FA11CD9-C934-4AEB-8BC0-369F230C892D}" dt="2026-10-24T22:48:51.788" v="464" actId="478"/>
          <ac:spMkLst>
            <pc:docMk/>
            <pc:sldMk cId="0" sldId="270"/>
            <ac:spMk id="3" creationId="{00000000-0000-0000-0000-000000000000}"/>
          </ac:spMkLst>
        </pc:spChg>
        <pc:spChg chg="mod">
          <ac:chgData name="Lakshya Asati" userId="d1b6aaae16d5d66c" providerId="LiveId" clId="{9FA11CD9-C934-4AEB-8BC0-369F230C892D}" dt="2026-10-24T22:48:56.694" v="465" actId="122"/>
          <ac:spMkLst>
            <pc:docMk/>
            <pc:sldMk cId="0" sldId="270"/>
            <ac:spMk id="4" creationId="{00000000-0000-0000-0000-000000000000}"/>
          </ac:spMkLst>
        </pc:spChg>
        <pc:spChg chg="mod">
          <ac:chgData name="Lakshya Asati" userId="d1b6aaae16d5d66c" providerId="LiveId" clId="{9FA11CD9-C934-4AEB-8BC0-369F230C892D}" dt="2026-10-24T22:48:56.694" v="465" actId="122"/>
          <ac:spMkLst>
            <pc:docMk/>
            <pc:sldMk cId="0" sldId="270"/>
            <ac:spMk id="5" creationId="{00000000-0000-0000-0000-000000000000}"/>
          </ac:spMkLst>
        </pc:spChg>
        <pc:spChg chg="mod">
          <ac:chgData name="Lakshya Asati" userId="d1b6aaae16d5d66c" providerId="LiveId" clId="{9FA11CD9-C934-4AEB-8BC0-369F230C892D}" dt="2026-10-24T22:48:56.694" v="465" actId="122"/>
          <ac:spMkLst>
            <pc:docMk/>
            <pc:sldMk cId="0" sldId="270"/>
            <ac:spMk id="7" creationId="{00000000-0000-0000-0000-000000000000}"/>
          </ac:spMkLst>
        </pc:spChg>
        <pc:spChg chg="mod">
          <ac:chgData name="Lakshya Asati" userId="d1b6aaae16d5d66c" providerId="LiveId" clId="{9FA11CD9-C934-4AEB-8BC0-369F230C892D}" dt="2026-10-24T22:48:56.694" v="465" actId="122"/>
          <ac:spMkLst>
            <pc:docMk/>
            <pc:sldMk cId="0" sldId="270"/>
            <ac:spMk id="8" creationId="{00000000-0000-0000-0000-000000000000}"/>
          </ac:spMkLst>
        </pc:spChg>
        <pc:spChg chg="mod">
          <ac:chgData name="Lakshya Asati" userId="d1b6aaae16d5d66c" providerId="LiveId" clId="{9FA11CD9-C934-4AEB-8BC0-369F230C892D}" dt="2026-10-24T22:49:08.545" v="467" actId="1076"/>
          <ac:spMkLst>
            <pc:docMk/>
            <pc:sldMk cId="0" sldId="270"/>
            <ac:spMk id="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5568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79179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052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34505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231021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76134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71535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51313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74077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06080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3059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210468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7444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://archive.ics.uci.edu/ml" TargetMode="External"/><Relationship Id="rId3" Type="http://schemas.openxmlformats.org/officeDocument/2006/relationships/hyperlink" Target="file:///C:\Users\Lakshya\OneDrive\Desktop\BF00994018.pdf" TargetMode="External"/><Relationship Id="rId7" Type="http://schemas.openxmlformats.org/officeDocument/2006/relationships/hyperlink" Target="file:///C:\Users\Lakshya\OneDrive\Desktop\2503.04137v1.pdf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rchive.ics.uci.edu/dataset/174/parkinsons" TargetMode="External"/><Relationship Id="rId5" Type="http://schemas.openxmlformats.org/officeDocument/2006/relationships/hyperlink" Target="https://archive.ics.uci.edu/dataset/45/heart+disease" TargetMode="External"/><Relationship Id="rId4" Type="http://schemas.openxmlformats.org/officeDocument/2006/relationships/hyperlink" Target="https://www.kaggle.com/datasets/uciml/pima-indians-diabetes-database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78947" y="256032"/>
            <a:ext cx="6112186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latin typeface="Cambria"/>
              </a:defRPr>
            </a:pPr>
            <a:r>
              <a:t>MULTI-DISEASE PREDICTION SYSTEM</a:t>
            </a:r>
          </a:p>
          <a:p>
            <a:pPr algn="ctr">
              <a:defRPr sz="2700" b="1">
                <a:latin typeface="Cambria"/>
              </a:defRPr>
            </a:pPr>
            <a:r>
              <a:t>USING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6200" y="1316736"/>
            <a:ext cx="4572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>
                <a:solidFill>
                  <a:srgbClr val="1E3A5F"/>
                </a:solidFill>
                <a:latin typeface="Calibri"/>
              </a:rPr>
              <a:t>By:</a:t>
            </a:r>
          </a:p>
          <a:p>
            <a:pPr algn="ctr">
              <a:defRPr sz="1400">
                <a:solidFill>
                  <a:srgbClr val="2B2B2B"/>
                </a:solidFill>
                <a:latin typeface="Calibri"/>
              </a:defRPr>
            </a:pPr>
            <a:r>
              <a:t>Vijay Kumar Rajak   (241B286)</a:t>
            </a:r>
          </a:p>
          <a:p>
            <a:pPr algn="ctr">
              <a:defRPr sz="1400">
                <a:solidFill>
                  <a:srgbClr val="2B2B2B"/>
                </a:solidFill>
                <a:latin typeface="Calibri"/>
              </a:defRPr>
            </a:pPr>
            <a:r>
              <a:t>Piyush Vishwakarma   (241B177)</a:t>
            </a:r>
          </a:p>
          <a:p>
            <a:pPr algn="ctr">
              <a:defRPr sz="1400">
                <a:solidFill>
                  <a:srgbClr val="2B2B2B"/>
                </a:solidFill>
                <a:latin typeface="Calibri"/>
              </a:defRPr>
            </a:pPr>
            <a:r>
              <a:t>Lakshya Asati   (241B134)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697480"/>
            <a:ext cx="30175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Calibri"/>
              </a:rPr>
              <a:t>Under the supervision of:  </a:t>
            </a:r>
          </a:p>
          <a:p>
            <a:pPr algn="ctr">
              <a:defRPr sz="1500">
                <a:latin typeface="Calibri"/>
              </a:defRPr>
            </a:pPr>
            <a:r>
              <a:t>Dr. Rahul Pachauri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3749039"/>
            <a:ext cx="1828800" cy="21671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08192"/>
            <a:ext cx="12188952" cy="74980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108192"/>
            <a:ext cx="2377440" cy="74980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0" y="6308247"/>
            <a:ext cx="639014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233B"/>
                </a:solidFill>
                <a:latin typeface="Calibri"/>
              </a:defRPr>
            </a:pPr>
            <a:r>
              <a:rPr dirty="0"/>
              <a:t>Jaypee University of Engineering &amp; Technology, Guna (MP)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Problem Statement &amp; Objectives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70432"/>
            <a:ext cx="11064240" cy="384048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Chronic diseases like Diabetes, Heart Disease &amp; Parkinson's often go undetected until it's too late.</a:t>
            </a:r>
          </a:p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Manual diagnosis is slow, expensive, and requires specialist availability — often unavailable in rural areas.</a:t>
            </a:r>
          </a:p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Most existing tools check only one disease at a time. There is no single unified screening system.</a:t>
            </a:r>
          </a:p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Hospitals already collect the required patient data — ML can use it to flag risk immediately.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77639"/>
            <a:ext cx="11064240" cy="384048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OUR 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Train one best-performing ML model per disease (Heart, Diabetes, Parkinson's).</a:t>
            </a:r>
          </a:p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Serve all 3 models through a single Flask web backend with REST API endpoints.</a:t>
            </a:r>
          </a:p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Build an interactive web interface where anyone can enter vitals and get a risk prediction instantly.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System Architecture &amp; Tech Stack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8116" y="1261872"/>
            <a:ext cx="1920240" cy="1417320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User fills</a:t>
            </a:r>
            <a:br/>
            <a:r>
              <a:t>the 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741932"/>
            <a:ext cx="18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A6472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31236" y="1261872"/>
            <a:ext cx="1920240" cy="1417320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Web page</a:t>
            </a:r>
            <a:br/>
            <a:r>
              <a:t>sends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0620" y="1741932"/>
            <a:ext cx="18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A6472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4356" y="1261872"/>
            <a:ext cx="1920240" cy="1417320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Flask API</a:t>
            </a:r>
            <a:br/>
            <a:r>
              <a:t>receives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3740" y="1741932"/>
            <a:ext cx="18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A6472"/>
                </a:solidFill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7476" y="1261872"/>
            <a:ext cx="1920240" cy="1417320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ML model</a:t>
            </a:r>
            <a:br/>
            <a:r>
              <a:t>predicts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860" y="1741932"/>
            <a:ext cx="18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A6472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0596" y="1261872"/>
            <a:ext cx="1920240" cy="1417320"/>
          </a:xfrm>
          <a:prstGeom prst="roundRect">
            <a:avLst/>
          </a:prstGeom>
          <a:solidFill>
            <a:srgbClr val="1E7A3C"/>
          </a:solidFill>
          <a:ln>
            <a:solidFill>
              <a:srgbClr val="1E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Result shown</a:t>
            </a:r>
            <a:br/>
            <a:r>
              <a:t>on screen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971800"/>
            <a:ext cx="3657600" cy="384048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438144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2B2B2B"/>
                </a:solidFill>
                <a:latin typeface="Calibri"/>
              </a:defRPr>
            </a:pPr>
            <a:r>
              <a:t>• HTML + CSS + JavaScript</a:t>
            </a:r>
          </a:p>
          <a:p>
            <a:pPr>
              <a:spcAft>
                <a:spcPts val="1000"/>
              </a:spcAft>
              <a:defRPr sz="1350">
                <a:solidFill>
                  <a:srgbClr val="2B2B2B"/>
                </a:solidFill>
                <a:latin typeface="Calibri"/>
              </a:defRPr>
            </a:pPr>
            <a:r>
              <a:t>• Runs directly in the browser</a:t>
            </a:r>
          </a:p>
          <a:p>
            <a:pPr>
              <a:spcAft>
                <a:spcPts val="1000"/>
              </a:spcAft>
              <a:defRPr sz="1350">
                <a:solidFill>
                  <a:srgbClr val="2B2B2B"/>
                </a:solidFill>
                <a:latin typeface="Calibri"/>
              </a:defRPr>
            </a:pPr>
            <a:r>
              <a:t>• Works offline too (simulation mode)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2971800"/>
            <a:ext cx="3657600" cy="384048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438144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2B2B2B"/>
                </a:solidFill>
                <a:latin typeface="Calibri"/>
              </a:defRPr>
            </a:pPr>
            <a:r>
              <a:t>• Python 3.13  +  Flask</a:t>
            </a:r>
          </a:p>
          <a:p>
            <a:pPr>
              <a:spcAft>
                <a:spcPts val="1000"/>
              </a:spcAft>
              <a:defRPr sz="1350">
                <a:solidFill>
                  <a:srgbClr val="2B2B2B"/>
                </a:solidFill>
                <a:latin typeface="Calibri"/>
              </a:defRPr>
            </a:pPr>
            <a:r>
              <a:t>• CORS enabled for web access</a:t>
            </a:r>
          </a:p>
          <a:p>
            <a:pPr>
              <a:spcAft>
                <a:spcPts val="1000"/>
              </a:spcAft>
              <a:defRPr sz="1350">
                <a:solidFill>
                  <a:srgbClr val="2B2B2B"/>
                </a:solidFill>
                <a:latin typeface="Calibri"/>
              </a:defRPr>
            </a:pPr>
            <a:r>
              <a:t>• Routes: /predict/heart,  /predict/diabetes,  /predict/parkinsons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2971800"/>
            <a:ext cx="3657600" cy="384048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ML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438144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2B2B2B"/>
                </a:solidFill>
                <a:latin typeface="Calibri"/>
              </a:defRPr>
            </a:pPr>
            <a:r>
              <a:t>• Scikit-Learn  1.6</a:t>
            </a:r>
          </a:p>
          <a:p>
            <a:pPr>
              <a:spcAft>
                <a:spcPts val="1000"/>
              </a:spcAft>
              <a:defRPr sz="1350">
                <a:solidFill>
                  <a:srgbClr val="2B2B2B"/>
                </a:solidFill>
                <a:latin typeface="Calibri"/>
              </a:defRPr>
            </a:pPr>
            <a:r>
              <a:t>• 3 trained models (.pkl files)</a:t>
            </a:r>
          </a:p>
          <a:p>
            <a:pPr>
              <a:spcAft>
                <a:spcPts val="1000"/>
              </a:spcAft>
              <a:defRPr sz="1350">
                <a:solidFill>
                  <a:srgbClr val="2B2B2B"/>
                </a:solidFill>
                <a:latin typeface="Calibri"/>
              </a:defRPr>
            </a:pPr>
            <a:r>
              <a:t>• Real-time prediction in milliseconds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Data Preprocessing &amp; Feature Engineering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298448"/>
            <a:ext cx="347472" cy="347472"/>
          </a:xfrm>
          <a:prstGeom prst="ellipse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188720"/>
            <a:ext cx="106527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5F"/>
                </a:solidFill>
                <a:latin typeface="Calibri"/>
              </a:defRPr>
            </a:pPr>
            <a:r>
              <a:t>Step 1 — Loaded all 3 datasets</a:t>
            </a:r>
          </a:p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Heart Disease (1,025 records)  •  Diabetes (768 records)  •  Parkinson's (195 records)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304288"/>
            <a:ext cx="347472" cy="347472"/>
          </a:xfrm>
          <a:prstGeom prst="ellipse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194560"/>
            <a:ext cx="106527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D8047"/>
                </a:solidFill>
                <a:latin typeface="Calibri"/>
              </a:defRPr>
            </a:pPr>
            <a:r>
              <a:t>Step 2 — Fixed bad zero values (Diabetes only)</a:t>
            </a:r>
          </a:p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Fields like Glucose and Insulin had impossible zeros — replaced with the correct median value.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310128"/>
            <a:ext cx="347472" cy="347472"/>
          </a:xfrm>
          <a:prstGeom prst="ellipse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200400"/>
            <a:ext cx="106527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5F"/>
                </a:solidFill>
                <a:latin typeface="Calibri"/>
              </a:defRPr>
            </a:pPr>
            <a:r>
              <a:t>Step 3 — Removed leakage column (Parkinson's only)</a:t>
            </a:r>
          </a:p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The 'name' column (patient ID) was dropped so the model learns vocal patterns, not patient names.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315968"/>
            <a:ext cx="347472" cy="347472"/>
          </a:xfrm>
          <a:prstGeom prst="ellipse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206240"/>
            <a:ext cx="106527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D8047"/>
                </a:solidFill>
                <a:latin typeface="Calibri"/>
              </a:defRPr>
            </a:pPr>
            <a:r>
              <a:t>Step 4 — Feature Scaling</a:t>
            </a:r>
          </a:p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Heart Disease: StandardScaler applied.   Diabetes &amp; Parkinson's: No scaling needed.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5321808"/>
            <a:ext cx="347472" cy="347472"/>
          </a:xfrm>
          <a:prstGeom prst="ellipse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5212080"/>
            <a:ext cx="106527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5F"/>
                </a:solidFill>
                <a:latin typeface="Calibri"/>
              </a:defRPr>
            </a:pPr>
            <a:r>
              <a:t>Step 5 — Train / Test Split</a:t>
            </a:r>
          </a:p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80% training  +  20% testing for all 3 datasets  (stratified, so class balance is preserved).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Disease Model 1 — Coronary Heart Disease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70432"/>
            <a:ext cx="5394960" cy="384048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DATASET &amp;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Disease:   Coronary Heart Disease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Source:    Cleveland Clinic (UCI Repository)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Records:   1,025  records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Features:  13  input columns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77639"/>
            <a:ext cx="5394960" cy="384048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INPUT FEATURES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Age, Sex, Chest Pain Type</a:t>
            </a:r>
          </a:p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Resting BP, Cholesterol</a:t>
            </a:r>
          </a:p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Max Heart Rate, ST Depression</a:t>
            </a:r>
          </a:p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Thal Status, No. of Vessels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70432"/>
            <a:ext cx="1399032" cy="914400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Accuracy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92.25%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170432"/>
            <a:ext cx="1399032" cy="914400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Precision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90.43%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1170432"/>
            <a:ext cx="1399032" cy="914400"/>
          </a:xfrm>
          <a:prstGeom prst="roundRect">
            <a:avLst/>
          </a:prstGeom>
          <a:solidFill>
            <a:srgbClr val="1E7A3C"/>
          </a:solidFill>
          <a:ln>
            <a:solidFill>
              <a:srgbClr val="1E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Recall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94.50%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20" y="1170432"/>
            <a:ext cx="1399032" cy="91440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ROC-AUC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96.38%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212848"/>
            <a:ext cx="5806440" cy="438912"/>
          </a:xfrm>
          <a:prstGeom prst="roundRect">
            <a:avLst/>
          </a:prstGeom>
          <a:solidFill>
            <a:srgbClr val="2B2B2B"/>
          </a:solidFill>
          <a:ln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Algorithm:  Logistic Regression  +  StandardScaler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88920"/>
            <a:ext cx="5806440" cy="347472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Confusion Matrix on Test Set</a:t>
            </a:r>
          </a:p>
        </p:txBody>
      </p:sp>
      <p:pic>
        <p:nvPicPr>
          <p:cNvPr id="19" name="Picture 18" descr="06_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2235" y="3200400"/>
            <a:ext cx="3986368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Disease Model 2 — Type-2 Diabetes Mellitus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70432"/>
            <a:ext cx="5394960" cy="384048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DATASET &amp;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Disease:   Type-2 Diabetes Mellitus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Source:    Pima Indians Diabetes DB (NIDDK/Kaggle)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Records:   768  records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Features:  8  input columns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77639"/>
            <a:ext cx="5394960" cy="384048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INPUT FEATURES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Glucose, BMI</a:t>
            </a:r>
          </a:p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Blood Pressure, Insulin</a:t>
            </a:r>
          </a:p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Skin Thickness, Pregnancies</a:t>
            </a:r>
          </a:p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Diabetes Pedigree Function, 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70432"/>
            <a:ext cx="1399032" cy="914400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Accuracy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85.25%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170432"/>
            <a:ext cx="1399032" cy="914400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Precision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83.41%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1170432"/>
            <a:ext cx="1399032" cy="914400"/>
          </a:xfrm>
          <a:prstGeom prst="roundRect">
            <a:avLst/>
          </a:prstGeom>
          <a:solidFill>
            <a:srgbClr val="1E7A3C"/>
          </a:solidFill>
          <a:ln>
            <a:solidFill>
              <a:srgbClr val="1E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Recall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88.00%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20" y="1170432"/>
            <a:ext cx="1399032" cy="91440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ROC-AUC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93.61%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212848"/>
            <a:ext cx="5806440" cy="438912"/>
          </a:xfrm>
          <a:prstGeom prst="roundRect">
            <a:avLst/>
          </a:prstGeom>
          <a:solidFill>
            <a:srgbClr val="2B2B2B"/>
          </a:solidFill>
          <a:ln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Algorithm:  Gradient Boosting Classifier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88920"/>
            <a:ext cx="5806440" cy="347472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Confusion Matrix on Test Set</a:t>
            </a:r>
          </a:p>
        </p:txBody>
      </p:sp>
      <p:pic>
        <p:nvPicPr>
          <p:cNvPr id="19" name="Picture 18" descr="06_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914" y="3200400"/>
            <a:ext cx="392901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Disease Model 3 — Parkinson's Disease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70432"/>
            <a:ext cx="5394960" cy="384048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DATASET &amp;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Disease:   Parkinson's Disease (Vocal Biomarkers)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Source:    Oxford Telemonitoring Study (UCI)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Records:   195  records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Features:  22  input columns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77639"/>
            <a:ext cx="5394960" cy="384048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INPUT FEATURES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Vocal frequencies (Fo, Fhi, Flo)</a:t>
            </a:r>
          </a:p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Jitter — frequency perturbations</a:t>
            </a:r>
          </a:p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Shimmer — amplitude perturbations</a:t>
            </a:r>
          </a:p>
          <a:p>
            <a:pPr>
              <a:spcAft>
                <a:spcPts val="10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• HNR, NHR, PPE, RPDE, DFA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70432"/>
            <a:ext cx="1399032" cy="914400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Accuracy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93.75%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170432"/>
            <a:ext cx="1399032" cy="914400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Precision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93.39%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1170432"/>
            <a:ext cx="1399032" cy="914400"/>
          </a:xfrm>
          <a:prstGeom prst="roundRect">
            <a:avLst/>
          </a:prstGeom>
          <a:solidFill>
            <a:srgbClr val="1E7A3C"/>
          </a:solidFill>
          <a:ln>
            <a:solidFill>
              <a:srgbClr val="1E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Recall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94.17%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20" y="1170432"/>
            <a:ext cx="1399032" cy="91440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BEDBFF"/>
                </a:solidFill>
                <a:latin typeface="Calibri"/>
              </a:defRPr>
            </a:pPr>
            <a:r>
              <a:t>ROC-AUC</a:t>
            </a:r>
          </a:p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94.57%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212848"/>
            <a:ext cx="5806440" cy="438912"/>
          </a:xfrm>
          <a:prstGeom prst="roundRect">
            <a:avLst/>
          </a:prstGeom>
          <a:solidFill>
            <a:srgbClr val="2B2B2B"/>
          </a:solidFill>
          <a:ln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Algorithm:  Decision Tree Classifier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88920"/>
            <a:ext cx="5806440" cy="347472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Confusion Matrix on Test Set</a:t>
            </a:r>
          </a:p>
        </p:txBody>
      </p:sp>
      <p:pic>
        <p:nvPicPr>
          <p:cNvPr id="19" name="Picture 18" descr="06_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253" y="3200400"/>
            <a:ext cx="3862333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All 3 Models — Side-by-Side Comparison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70432"/>
          <a:ext cx="97840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Disease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Coronary Heart Disease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92.25%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90.43%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94.50%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96.38%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Type-2 Diabetes Mellitus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85.25%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83.41%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93.61%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Parkinson's Disease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93.75%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93.39%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94.17%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94.57%</a:t>
                      </a:r>
                    </a:p>
                  </a:txBody>
                  <a:tcPr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20040" y="3730752"/>
            <a:ext cx="3749039" cy="749808"/>
          </a:xfrm>
          <a:prstGeom prst="roundRect">
            <a:avLst/>
          </a:prstGeom>
          <a:solidFill>
            <a:srgbClr val="F6F8F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50" b="1">
                <a:solidFill>
                  <a:srgbClr val="1E3A5F"/>
                </a:solidFill>
                <a:latin typeface="Calibri"/>
              </a:defRPr>
            </a:pPr>
            <a:r>
              <a:t>Best Accuracy</a:t>
            </a:r>
          </a:p>
          <a:p>
            <a:pPr algn="ctr">
              <a:defRPr sz="1100">
                <a:solidFill>
                  <a:srgbClr val="2B2B2B"/>
                </a:solidFill>
                <a:latin typeface="Calibri"/>
              </a:defRPr>
            </a:pPr>
            <a:r>
              <a:t>Parkinson's  —  93.75%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3730752"/>
            <a:ext cx="3749039" cy="749808"/>
          </a:xfrm>
          <a:prstGeom prst="roundRect">
            <a:avLst/>
          </a:prstGeom>
          <a:solidFill>
            <a:srgbClr val="F6F8FA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50" b="1">
                <a:solidFill>
                  <a:srgbClr val="DD8047"/>
                </a:solidFill>
                <a:latin typeface="Calibri"/>
              </a:defRPr>
            </a:pPr>
            <a:r>
              <a:t>Best ROC-AUC</a:t>
            </a:r>
          </a:p>
          <a:p>
            <a:pPr algn="ctr">
              <a:defRPr sz="1100">
                <a:solidFill>
                  <a:srgbClr val="2B2B2B"/>
                </a:solidFill>
                <a:latin typeface="Calibri"/>
              </a:defRPr>
            </a:pPr>
            <a:r>
              <a:t>Heart Disease  —  96.38%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0456" y="3730752"/>
            <a:ext cx="3749039" cy="749808"/>
          </a:xfrm>
          <a:prstGeom prst="roundRect">
            <a:avLst/>
          </a:prstGeom>
          <a:solidFill>
            <a:srgbClr val="F6F8FA"/>
          </a:solidFill>
          <a:ln>
            <a:solidFill>
              <a:srgbClr val="1E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50" b="1">
                <a:solidFill>
                  <a:srgbClr val="1E7A3C"/>
                </a:solidFill>
                <a:latin typeface="Calibri"/>
              </a:defRPr>
            </a:pPr>
            <a:r>
              <a:t>Highest Recall</a:t>
            </a:r>
          </a:p>
          <a:p>
            <a:pPr algn="ctr">
              <a:defRPr sz="1100">
                <a:solidFill>
                  <a:srgbClr val="2B2B2B"/>
                </a:solidFill>
                <a:latin typeface="Calibri"/>
              </a:defRPr>
            </a:pPr>
            <a:r>
              <a:t>Heart Disease  —  94.50%  ← most important metric for clinical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663440"/>
            <a:ext cx="11567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472"/>
                </a:solidFill>
                <a:latin typeface="Calibri"/>
              </a:defRPr>
            </a:pPr>
            <a:r>
              <a:t>Why Recall matters in clinical settings: A false negative (missed diagnosis) is far more dangerous than a false positive. High recall = fewer missed high-risk patients.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486400"/>
            <a:ext cx="11567160" cy="438912"/>
          </a:xfrm>
          <a:prstGeom prst="roundRect">
            <a:avLst/>
          </a:prstGeom>
          <a:solidFill>
            <a:srgbClr val="1E7A3C"/>
          </a:solidFill>
          <a:ln>
            <a:solidFill>
              <a:srgbClr val="1E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All 3 models trained, serialized to .pkl files, and served via Flask REST API  —  live and operational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Backend Implementation &amp; Model Serving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70432"/>
            <a:ext cx="11064240" cy="384048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HOW IT WORKS — 4 SIMPLE STEPS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1792224"/>
            <a:ext cx="365760" cy="365760"/>
          </a:xfrm>
          <a:prstGeom prst="ellipse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64792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19072"/>
            <a:ext cx="10561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5F"/>
                </a:solidFill>
                <a:latin typeface="Calibri"/>
              </a:defRPr>
            </a:pPr>
            <a:r>
              <a:t>Step 1</a:t>
            </a:r>
          </a:p>
          <a:p>
            <a:pPr>
              <a:defRPr sz="1400">
                <a:solidFill>
                  <a:srgbClr val="2B2B2B"/>
                </a:solidFill>
                <a:latin typeface="Calibri"/>
              </a:defRPr>
            </a:pPr>
            <a:r>
              <a:t>The web page collects input values from the user and sends a POST request to the Flask backend.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798064"/>
            <a:ext cx="365760" cy="365760"/>
          </a:xfrm>
          <a:prstGeom prst="ellipse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770632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24912"/>
            <a:ext cx="10561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D8047"/>
                </a:solidFill>
                <a:latin typeface="Calibri"/>
              </a:defRPr>
            </a:pPr>
            <a:r>
              <a:t>Step 2</a:t>
            </a:r>
          </a:p>
          <a:p>
            <a:pPr>
              <a:defRPr sz="1400">
                <a:solidFill>
                  <a:srgbClr val="2B2B2B"/>
                </a:solidFill>
                <a:latin typeface="Calibri"/>
              </a:defRPr>
            </a:pPr>
            <a:r>
              <a:t>Flask receives the JSON data and identifies which disease endpoint was called (/heart, /diabetes, /parkinsons).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803904"/>
            <a:ext cx="365760" cy="365760"/>
          </a:xfrm>
          <a:prstGeom prst="ellipse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776472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30752"/>
            <a:ext cx="10561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5F"/>
                </a:solidFill>
                <a:latin typeface="Calibri"/>
              </a:defRPr>
            </a:pPr>
            <a:r>
              <a:t>Step 3</a:t>
            </a:r>
          </a:p>
          <a:p>
            <a:pPr>
              <a:defRPr sz="1400">
                <a:solidFill>
                  <a:srgbClr val="2B2B2B"/>
                </a:solidFill>
                <a:latin typeface="Calibri"/>
              </a:defRPr>
            </a:pPr>
            <a:r>
              <a:t>The matching pre-trained model (.pkl file) runs predict() and predict_proba() on the input data.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809744"/>
            <a:ext cx="365760" cy="365760"/>
          </a:xfrm>
          <a:prstGeom prst="ellipse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782312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736592"/>
            <a:ext cx="10561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D8047"/>
                </a:solidFill>
                <a:latin typeface="Calibri"/>
              </a:defRPr>
            </a:pPr>
            <a:r>
              <a:t>Step 4</a:t>
            </a:r>
          </a:p>
          <a:p>
            <a:pPr>
              <a:defRPr sz="1400">
                <a:solidFill>
                  <a:srgbClr val="2B2B2B"/>
                </a:solidFill>
                <a:latin typeface="Calibri"/>
              </a:defRPr>
            </a:pPr>
            <a:r>
              <a:t>Flask returns a JSON response with: prediction (0 or 1), risk status label, and probability percentage.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961888"/>
            <a:ext cx="11064240" cy="438912"/>
          </a:xfrm>
          <a:prstGeom prst="round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Saved models:  heart_logistic_regression.pkl  |  diabetes_gradient_boosting.pkl  |  parkinsons_decision_tree.pkl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Frontend Prototype Overview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70432"/>
            <a:ext cx="11064240" cy="384048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HOW THE WEB INTERFACE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1064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The home page has 3 tabs — one for each disease (Heart, Diabetes, Parkinson's).</a:t>
            </a:r>
          </a:p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Each tab shows a clean input form with the right fields for that disease.</a:t>
            </a:r>
          </a:p>
          <a:p>
            <a:pPr>
              <a:spcAft>
                <a:spcPts val="1000"/>
              </a:spcAft>
              <a:defRPr sz="1500">
                <a:solidFill>
                  <a:srgbClr val="2B2B2B"/>
                </a:solidFill>
                <a:latin typeface="Calibri"/>
              </a:defRPr>
            </a:pPr>
            <a:r>
              <a:t>• Click 'High-Risk Sample' or 'Normal Sample' to auto-fill test data instantly.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5349240" cy="1325880"/>
          </a:xfrm>
          <a:prstGeom prst="roundRect">
            <a:avLst/>
          </a:prstGeom>
          <a:solidFill>
            <a:srgbClr val="F6F8F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5349240" cy="347472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Calibri"/>
              </a:defRPr>
            </a:pPr>
            <a:r>
              <a:t>Input 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58184"/>
            <a:ext cx="5074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Fields labelled with medical units (mm Hg, mg/dL, Hz). Dropdowns for categories like sex, chest pain type.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349240" cy="1325880"/>
          </a:xfrm>
          <a:prstGeom prst="roundRect">
            <a:avLst/>
          </a:prstGeom>
          <a:solidFill>
            <a:srgbClr val="F6F8FA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3337560"/>
            <a:ext cx="5349240" cy="347472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Calibri"/>
              </a:defRPr>
            </a:pPr>
            <a:r>
              <a:t>Result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758184"/>
            <a:ext cx="5074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Shows: Risk badge (High Risk / Normal), Probability % bar, Clinical advice 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18888"/>
            <a:ext cx="5349240" cy="1325880"/>
          </a:xfrm>
          <a:prstGeom prst="roundRect">
            <a:avLst/>
          </a:prstGeom>
          <a:solidFill>
            <a:srgbClr val="F6F8F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48640" y="4818888"/>
            <a:ext cx="5349240" cy="347472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Calibri"/>
              </a:defRPr>
            </a:pPr>
            <a:r>
              <a:t>1-Click Presets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39512"/>
            <a:ext cx="5074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Pre-filled with real verified samples. Great for demos and viva presentations.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818888"/>
            <a:ext cx="5349240" cy="1325880"/>
          </a:xfrm>
          <a:prstGeom prst="roundRect">
            <a:avLst/>
          </a:prstGeom>
          <a:solidFill>
            <a:srgbClr val="F6F8FA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72200" y="4818888"/>
            <a:ext cx="5349240" cy="347472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Calibri"/>
              </a:defRPr>
            </a:pPr>
            <a:r>
              <a:t>Offline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239512"/>
            <a:ext cx="5074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If Flask is not running, a smart simulation still shows results — the page never breaks.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Working Prototype — Dashboard &amp; Heart Disease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70432"/>
            <a:ext cx="5532120" cy="347472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Home Dashboard  (index.html)</a:t>
            </a:r>
          </a:p>
        </p:txBody>
      </p:sp>
      <p:pic>
        <p:nvPicPr>
          <p:cNvPr id="10" name="Picture 9" descr="prototype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16191"/>
            <a:ext cx="5532120" cy="36736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806440"/>
            <a:ext cx="5532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472"/>
                </a:solidFill>
                <a:latin typeface="Calibri"/>
              </a:defRPr>
            </a:pPr>
            <a:r>
              <a:t>3 disease tabs, live backend status, preset buttons.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170432"/>
            <a:ext cx="5532120" cy="347472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Heart Disease — High Risk Detected (60.85%)</a:t>
            </a:r>
          </a:p>
        </p:txBody>
      </p:sp>
      <p:pic>
        <p:nvPicPr>
          <p:cNvPr id="13" name="Picture 12" descr="prototype_h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881020"/>
            <a:ext cx="5532120" cy="35440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06440"/>
            <a:ext cx="5532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472"/>
                </a:solidFill>
                <a:latin typeface="Calibri"/>
              </a:defRPr>
            </a:pPr>
            <a:r>
              <a:t>13-feature form → Logistic Regression → 60.85% cardiac risk + ECG advisory.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Working Prototype — Diabetes &amp; Parkinson's Screening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70432"/>
            <a:ext cx="5532120" cy="347472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Diabetes — High Risk (94.63%)</a:t>
            </a:r>
          </a:p>
        </p:txBody>
      </p:sp>
      <p:pic>
        <p:nvPicPr>
          <p:cNvPr id="10" name="Picture 9" descr="prototype_diabe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81020"/>
            <a:ext cx="5532120" cy="35440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806440"/>
            <a:ext cx="5532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472"/>
                </a:solidFill>
                <a:latin typeface="Calibri"/>
              </a:defRPr>
            </a:pPr>
            <a:r>
              <a:t>Glucose=148, BMI=33.6 → Gradient Boosting → 94.63% diabetic risk.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170432"/>
            <a:ext cx="5532120" cy="347472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Parkinson's — Disease Detected (94.66%)</a:t>
            </a:r>
          </a:p>
        </p:txBody>
      </p:sp>
      <p:pic>
        <p:nvPicPr>
          <p:cNvPr id="13" name="Picture 12" descr="prototype_parkin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881020"/>
            <a:ext cx="5532120" cy="35440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06440"/>
            <a:ext cx="5532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472"/>
                </a:solidFill>
                <a:latin typeface="Calibri"/>
              </a:defRPr>
            </a:pPr>
            <a:r>
              <a:t>22 acoustic features → Decision Tree → Parkinson's vocal pattern detected.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Week-by-Week Progress (13-Week Roadmap)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28600" y="1170432"/>
          <a:ext cx="11731752" cy="5285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8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751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Wk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21–25 Jul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Project scoping &amp; dataset exploration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27 Jul–1 Aug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Requirements, schedule, problem definition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3–8 Aug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Data collection &amp; ML algorithm research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10–15 Aug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EDA, visualization &amp; data cleaning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17–22 Aug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Final algorithm selection for each disease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24–29 Aug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Diabetes model training — Gradient Boosting (85.25%)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31 Aug–5 Sep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rPr dirty="0"/>
                        <a:t>Heart Disease model training — Logistic Reg (92.25%)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7–12 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rPr dirty="0"/>
                        <a:t>Parkinson's model training — Decision Tree (93.75%)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14–19 Sep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Model evaluation — ROC-AUC, Confusion Matrix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21–26 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Flask API + Web GUI prototype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E7A3C"/>
                          </a:solidFill>
                          <a:latin typeface="Calibri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28 Sep–3 Oct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rPr dirty="0"/>
                        <a:t>System testing &amp; boundary validation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DD8047"/>
                          </a:solidFill>
                          <a:latin typeface="Calibri"/>
                        </a:defRPr>
                      </a:pPr>
                      <a:r>
                        <a:t>In Progress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516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5–10 Oct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rPr dirty="0"/>
                        <a:t>Explainability (SHAP) &amp; 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5A6472"/>
                          </a:solidFill>
                          <a:latin typeface="Calibri"/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7524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t>12–17 Oct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B2B2B"/>
                          </a:solidFill>
                          <a:latin typeface="Calibri"/>
                        </a:defRPr>
                      </a:pPr>
                      <a:r>
                        <a:rPr dirty="0"/>
                        <a:t>Final report &amp; viva preparation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5A6472"/>
                          </a:solidFill>
                          <a:latin typeface="Calibri"/>
                        </a:defRPr>
                      </a:pPr>
                      <a:r>
                        <a:rPr dirty="0"/>
                        <a:t>Pending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320040"/>
            <a:ext cx="868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"/>
            <a:ext cx="10442448" cy="658368"/>
          </a:xfrm>
          <a:prstGeom prst="rect">
            <a:avLst/>
          </a:prstGeom>
          <a:solidFill>
            <a:srgbClr val="94B6D2"/>
          </a:solidFill>
          <a:ln>
            <a:solidFill>
              <a:srgbClr val="94B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347472"/>
            <a:ext cx="1005840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mbria"/>
              </a:defRPr>
            </a:pPr>
            <a:r>
              <a:t>What's Left &amp; Conclusion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7233B"/>
          </a:solidFill>
          <a:ln>
            <a:solidFill>
              <a:srgbClr val="17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  <a:latin typeface="Calibri"/>
              </a:defRPr>
            </a:pPr>
            <a:r>
              <a:t>Multi-Disease Prediction System using ML  |  Minor Project Part-I  |  RP-2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70432"/>
            <a:ext cx="5349240" cy="384048"/>
          </a:xfrm>
          <a:prstGeom prst="roundRect">
            <a:avLst/>
          </a:prstGeom>
          <a:solidFill>
            <a:srgbClr val="DD8047"/>
          </a:solidFill>
          <a:ln>
            <a:solidFill>
              <a:srgbClr val="DD8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REMAINING TASKS (Weeks 11–13)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19072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D8047"/>
                </a:solidFill>
                <a:latin typeface="Calibri"/>
              </a:rPr>
              <a:t>Week 11 — Testing:</a:t>
            </a:r>
          </a:p>
          <a:p>
            <a:pPr>
              <a:defRPr sz="1400">
                <a:solidFill>
                  <a:srgbClr val="2B2B2B"/>
                </a:solidFill>
                <a:latin typeface="Calibri"/>
              </a:defRPr>
            </a:pPr>
            <a:r>
              <a:t>Run edge-case inputs to check for crashes or wrong outputs.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D8047"/>
                </a:solidFill>
                <a:latin typeface="Calibri"/>
              </a:rPr>
              <a:t>Week 12 — Explainability:</a:t>
            </a:r>
          </a:p>
          <a:p>
            <a:pPr>
              <a:defRPr sz="1400">
                <a:solidFill>
                  <a:srgbClr val="2B2B2B"/>
                </a:solidFill>
                <a:latin typeface="Calibri"/>
              </a:defRPr>
            </a:pPr>
            <a:r>
              <a:t>Add SHAP charts to show which feature most influenced each prediction.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62272"/>
            <a:ext cx="5349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D8047"/>
                </a:solidFill>
                <a:latin typeface="Calibri"/>
              </a:rPr>
              <a:t>Week 13 — Final Report:</a:t>
            </a:r>
          </a:p>
          <a:p>
            <a:pPr>
              <a:defRPr sz="1400">
                <a:solidFill>
                  <a:srgbClr val="2B2B2B"/>
                </a:solidFill>
                <a:latin typeface="Calibri"/>
              </a:defRPr>
            </a:pPr>
            <a:r>
              <a:t>Write the project report and prepare the viva presentation.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70432"/>
            <a:ext cx="5577840" cy="384048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WHAT WE ACHIEVED BY PANEL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69164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3 disease models trained and evaluated (17 classifiers total).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Best models: LR 92.25%, GB 85.25%, DT 93.75% accuracy.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All models saved as .pkl files and served via Flask REST API.</a:t>
            </a:r>
          </a:p>
          <a:p>
            <a:pPr>
              <a:spcAft>
                <a:spcPts val="10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Interactive web prototype built and working end-to-end.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828032"/>
            <a:ext cx="5577840" cy="1481328"/>
          </a:xfrm>
          <a:prstGeom prst="roundRect">
            <a:avLst/>
          </a:prstGeom>
          <a:solidFill>
            <a:srgbClr val="D1FAE5"/>
          </a:solidFill>
          <a:ln>
            <a:solidFill>
              <a:srgbClr val="1E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E7A3C"/>
                </a:solidFill>
                <a:latin typeface="Calibri"/>
              </a:defRPr>
            </a:pPr>
            <a:r>
              <a:t>Final Goal</a:t>
            </a:r>
          </a:p>
          <a:p>
            <a:pPr>
              <a:defRPr sz="1300">
                <a:solidFill>
                  <a:srgbClr val="2B2B2B"/>
                </a:solidFill>
                <a:latin typeface="Calibri"/>
              </a:defRPr>
            </a:pPr>
            <a:r>
              <a:t>A single web app where a patient enters basic health parameters and instantly gets a risk assessment for 3 major chronic diseases — fast, accessible, and non-invasive.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20F82A1E-8FFE-E6BC-8F5A-D9328669FB04}"/>
              </a:ext>
            </a:extLst>
          </p:cNvPr>
          <p:cNvSpPr/>
          <p:nvPr/>
        </p:nvSpPr>
        <p:spPr>
          <a:xfrm>
            <a:off x="868680" y="320040"/>
            <a:ext cx="10424160" cy="658368"/>
          </a:xfrm>
          <a:prstGeom prst="rect">
            <a:avLst/>
          </a:prstGeom>
          <a:solidFill>
            <a:srgbClr val="94B6D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690FD20B-5125-FBD8-913B-502294C00E72}"/>
              </a:ext>
            </a:extLst>
          </p:cNvPr>
          <p:cNvSpPr/>
          <p:nvPr/>
        </p:nvSpPr>
        <p:spPr>
          <a:xfrm>
            <a:off x="0" y="320040"/>
            <a:ext cx="868680" cy="658368"/>
          </a:xfrm>
          <a:prstGeom prst="rect">
            <a:avLst/>
          </a:prstGeom>
          <a:solidFill>
            <a:srgbClr val="DD8047"/>
          </a:solidFill>
          <a:ln/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678672A-979F-57F4-0F85-F17B5DEA99E6}"/>
              </a:ext>
            </a:extLst>
          </p:cNvPr>
          <p:cNvSpPr txBox="1"/>
          <p:nvPr/>
        </p:nvSpPr>
        <p:spPr>
          <a:xfrm>
            <a:off x="0" y="340614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D52698-2DA6-1BD4-33C5-0A40C4762744}"/>
              </a:ext>
            </a:extLst>
          </p:cNvPr>
          <p:cNvSpPr txBox="1"/>
          <p:nvPr/>
        </p:nvSpPr>
        <p:spPr>
          <a:xfrm>
            <a:off x="1051560" y="320040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200" dirty="0"/>
          </a:p>
        </p:txBody>
      </p:sp>
      <p:pic>
        <p:nvPicPr>
          <p:cNvPr id="11" name="Image 0" descr="extracted/page0_img0.png">
            <a:extLst>
              <a:ext uri="{FF2B5EF4-FFF2-40B4-BE49-F238E27FC236}">
                <a16:creationId xmlns:a16="http://schemas.microsoft.com/office/drawing/2014/main" id="{6B55706C-F9B4-8C45-B214-712723BF1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137160"/>
            <a:ext cx="640080" cy="758952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2191610C-DFD0-C33A-327E-1067D761F3A0}"/>
              </a:ext>
            </a:extLst>
          </p:cNvPr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7233B"/>
          </a:solidFill>
          <a:ln/>
        </p:spPr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2FCC03D-89E3-D181-3193-3F1D517F7695}"/>
              </a:ext>
            </a:extLst>
          </p:cNvPr>
          <p:cNvSpPr txBox="1"/>
          <p:nvPr/>
        </p:nvSpPr>
        <p:spPr>
          <a:xfrm>
            <a:off x="274320" y="6565392"/>
            <a:ext cx="11643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Multi-Disease Prediction System using ML  |  Minor Project Part-I  |  RP-2</a:t>
            </a:r>
            <a:endParaRPr lang="en-US" sz="9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B4424CFA-1414-E160-A9ED-4E09D357EEC5}"/>
              </a:ext>
            </a:extLst>
          </p:cNvPr>
          <p:cNvSpPr txBox="1"/>
          <p:nvPr/>
        </p:nvSpPr>
        <p:spPr>
          <a:xfrm>
            <a:off x="502920" y="1284732"/>
            <a:ext cx="5029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600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717F9B50-9FB7-18B3-5619-F2D3BB723064}"/>
              </a:ext>
            </a:extLst>
          </p:cNvPr>
          <p:cNvSpPr txBox="1"/>
          <p:nvPr/>
        </p:nvSpPr>
        <p:spPr>
          <a:xfrm>
            <a:off x="1051560" y="1469898"/>
            <a:ext cx="105156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Cortes and V. Vapnik, “Support-vector networks,” Machine Learning, vol. 20, no. 3, pp. 273–297, 1995. </a:t>
            </a:r>
            <a:r>
              <a:rPr lang="en-US" sz="160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Click Here</a:t>
            </a:r>
            <a:endParaRPr lang="en-US" sz="16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1688A0F0-F277-A4C0-68F5-2710945A15E3}"/>
              </a:ext>
            </a:extLst>
          </p:cNvPr>
          <p:cNvSpPr txBox="1"/>
          <p:nvPr/>
        </p:nvSpPr>
        <p:spPr>
          <a:xfrm>
            <a:off x="502920" y="2034540"/>
            <a:ext cx="5029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6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DA6C040D-43AE-82EA-B134-3223FA4CCAA9}"/>
              </a:ext>
            </a:extLst>
          </p:cNvPr>
          <p:cNvSpPr txBox="1"/>
          <p:nvPr/>
        </p:nvSpPr>
        <p:spPr>
          <a:xfrm>
            <a:off x="1051560" y="2231136"/>
            <a:ext cx="105156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“Pima Indians Diabetes Database,” [Online]. Available: </a:t>
            </a: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https://www.kaggle.com/datasets/uciml/pima-indians-diabetes-database</a:t>
            </a:r>
            <a:endParaRPr lang="en-US" sz="160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B5C72991-03A6-235A-EE7A-AE2F664876AC}"/>
              </a:ext>
            </a:extLst>
          </p:cNvPr>
          <p:cNvSpPr txBox="1"/>
          <p:nvPr/>
        </p:nvSpPr>
        <p:spPr>
          <a:xfrm>
            <a:off x="502920" y="2784348"/>
            <a:ext cx="5029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6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DCA38DC3-33C1-DBCD-A472-B8F545AFA35A}"/>
              </a:ext>
            </a:extLst>
          </p:cNvPr>
          <p:cNvSpPr txBox="1"/>
          <p:nvPr/>
        </p:nvSpPr>
        <p:spPr>
          <a:xfrm>
            <a:off x="1051560" y="2916936"/>
            <a:ext cx="105156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Janosi, W. Steinbrunn, M. Pfisterer, and R. Detrano, “Heart Disease,” UCI Machine Learning Repository, 1989. [Online]. Available: </a:t>
            </a:r>
            <a:r>
              <a:rPr lang="en-US" sz="1600" dirty="0">
                <a:hlinkClick r:id="rId5"/>
              </a:rPr>
              <a:t>https://archive.ics.uci.edu/dataset/45/heart+disease</a:t>
            </a:r>
            <a:endParaRPr lang="en-US" sz="160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67C074A8-329A-8E74-4EFF-A48145629F8F}"/>
              </a:ext>
            </a:extLst>
          </p:cNvPr>
          <p:cNvSpPr txBox="1"/>
          <p:nvPr/>
        </p:nvSpPr>
        <p:spPr>
          <a:xfrm>
            <a:off x="502920" y="3534156"/>
            <a:ext cx="5029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600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50048CF7-2198-C9B4-79A8-D1AD4CECE198}"/>
              </a:ext>
            </a:extLst>
          </p:cNvPr>
          <p:cNvSpPr txBox="1"/>
          <p:nvPr/>
        </p:nvSpPr>
        <p:spPr>
          <a:xfrm>
            <a:off x="1082040" y="3717036"/>
            <a:ext cx="105156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Little, “Parkinsons,” UCI Machine Learning Repository, 2007. [Online]. Available: </a:t>
            </a: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https://archive.ics.uci.edu/dataset/174/parkinsons</a:t>
            </a:r>
            <a:endParaRPr lang="en-US" sz="1600" dirty="0"/>
          </a:p>
        </p:txBody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011B8CB8-5BFA-178E-C2A4-0D65FAF01EDC}"/>
              </a:ext>
            </a:extLst>
          </p:cNvPr>
          <p:cNvSpPr txBox="1"/>
          <p:nvPr/>
        </p:nvSpPr>
        <p:spPr>
          <a:xfrm>
            <a:off x="502920" y="4283964"/>
            <a:ext cx="5029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600" dirty="0"/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86B8FD73-2BE6-8E1D-A8E5-08F7C4227E9D}"/>
              </a:ext>
            </a:extLst>
          </p:cNvPr>
          <p:cNvSpPr txBox="1"/>
          <p:nvPr/>
        </p:nvSpPr>
        <p:spPr>
          <a:xfrm>
            <a:off x="1051560" y="4466844"/>
            <a:ext cx="105156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Computer Science &amp; Engineering, California State University, “A Comparative Study of Diabetes Prediction Based on Lifestyle Factors” </a:t>
            </a: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file"/>
              </a:rPr>
              <a:t>Click Here</a:t>
            </a:r>
            <a:endParaRPr lang="en-US" sz="1600" dirty="0"/>
          </a:p>
        </p:txBody>
      </p:sp>
      <p:sp>
        <p:nvSpPr>
          <p:cNvPr id="37" name="Text 16">
            <a:extLst>
              <a:ext uri="{FF2B5EF4-FFF2-40B4-BE49-F238E27FC236}">
                <a16:creationId xmlns:a16="http://schemas.microsoft.com/office/drawing/2014/main" id="{9EFA8688-1EB8-DAE9-0F73-97D99B7EDAA7}"/>
              </a:ext>
            </a:extLst>
          </p:cNvPr>
          <p:cNvSpPr txBox="1"/>
          <p:nvPr/>
        </p:nvSpPr>
        <p:spPr>
          <a:xfrm>
            <a:off x="502920" y="5033772"/>
            <a:ext cx="5029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</a:t>
            </a:r>
            <a:endParaRPr lang="en-US" sz="1600" dirty="0"/>
          </a:p>
        </p:txBody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AEB50856-C790-2D39-52C2-465AFE0A6852}"/>
              </a:ext>
            </a:extLst>
          </p:cNvPr>
          <p:cNvSpPr txBox="1"/>
          <p:nvPr/>
        </p:nvSpPr>
        <p:spPr>
          <a:xfrm>
            <a:off x="1051560" y="5202936"/>
            <a:ext cx="105156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Dua and C. Graff, “UCI Machine Learning Repository,” University of California, Irvine, School of Information and Computer Sciences, 2019. [Online]. Available: </a:t>
            </a: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http://archive.ics.uci.edu/ml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60601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16115D-224F-60CA-879B-8E33D8C3F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306"/>
            <a:ext cx="12192000" cy="685800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B431200C-E0C0-8441-52B0-9C4EA37B20BC}"/>
              </a:ext>
            </a:extLst>
          </p:cNvPr>
          <p:cNvSpPr txBox="1"/>
          <p:nvPr/>
        </p:nvSpPr>
        <p:spPr>
          <a:xfrm>
            <a:off x="-79776" y="1848674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000" dirty="0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90D1ED0B-0769-E048-316A-B0D7F3522D3F}"/>
              </a:ext>
            </a:extLst>
          </p:cNvPr>
          <p:cNvSpPr/>
          <p:nvPr/>
        </p:nvSpPr>
        <p:spPr>
          <a:xfrm>
            <a:off x="709127" y="1745431"/>
            <a:ext cx="868680" cy="658368"/>
          </a:xfrm>
          <a:prstGeom prst="rect">
            <a:avLst/>
          </a:prstGeom>
          <a:solidFill>
            <a:srgbClr val="DD8047"/>
          </a:solidFill>
          <a:ln/>
        </p:spPr>
      </p:sp>
    </p:spTree>
    <p:extLst>
      <p:ext uri="{BB962C8B-B14F-4D97-AF65-F5344CB8AC3E}">
        <p14:creationId xmlns:p14="http://schemas.microsoft.com/office/powerpoint/2010/main" val="3078403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</TotalTime>
  <Words>1883</Words>
  <Application>Microsoft Office PowerPoint</Application>
  <PresentationFormat>Widescreen</PresentationFormat>
  <Paragraphs>300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Cambria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Lakshya Asati</cp:lastModifiedBy>
  <cp:revision>4</cp:revision>
  <dcterms:created xsi:type="dcterms:W3CDTF">2026-09-01T18:08:39Z</dcterms:created>
  <dcterms:modified xsi:type="dcterms:W3CDTF">2026-10-25T17:51:23Z</dcterms:modified>
</cp:coreProperties>
</file>